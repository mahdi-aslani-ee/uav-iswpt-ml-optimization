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b477d7b9a048ef" /><Relationship Type="http://schemas.openxmlformats.org/officeDocument/2006/relationships/extended-properties" Target="/docProps/app.xml" Id="R9770a1e649084253" /><Relationship Type="http://schemas.openxmlformats.org/officeDocument/2006/relationships/officeDocument" Target="/ppt/presentation.xml" Id="R762eb4629d334a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0ebab5a4e9418c"/>
  </p:sldMasterIdLst>
  <p:notesMasterIdLst>
    <p:notesMasterId xmlns:r="http://schemas.openxmlformats.org/officeDocument/2006/relationships" r:id="Rf7960d5614f14299"/>
  </p:notesMasterIdLst>
  <p:sldIdLst>
    <p:sldId xmlns:r="http://schemas.openxmlformats.org/officeDocument/2006/relationships" id="256" r:id="R474dc97c7a9d41b0"/>
    <p:sldId xmlns:r="http://schemas.openxmlformats.org/officeDocument/2006/relationships" id="257" r:id="Ra7b07b9c860440a1"/>
    <p:sldId xmlns:r="http://schemas.openxmlformats.org/officeDocument/2006/relationships" id="258" r:id="R2cefe52608994767"/>
    <p:sldId xmlns:r="http://schemas.openxmlformats.org/officeDocument/2006/relationships" id="259" r:id="Rf37189ce5f6e4167"/>
    <p:sldId xmlns:r="http://schemas.openxmlformats.org/officeDocument/2006/relationships" id="260" r:id="Rfff4b645eaab4dfe"/>
    <p:sldId xmlns:r="http://schemas.openxmlformats.org/officeDocument/2006/relationships" id="261" r:id="Rb5bf2c40016c4998"/>
    <p:sldId xmlns:r="http://schemas.openxmlformats.org/officeDocument/2006/relationships" id="262" r:id="R15f83ce7cd6249fe"/>
    <p:sldId xmlns:r="http://schemas.openxmlformats.org/officeDocument/2006/relationships" id="263" r:id="R177e1ee5f1ce4dbf"/>
    <p:sldId xmlns:r="http://schemas.openxmlformats.org/officeDocument/2006/relationships" id="264" r:id="Rd27a8c4950fd4b14"/>
    <p:sldId xmlns:r="http://schemas.openxmlformats.org/officeDocument/2006/relationships" id="265" r:id="R789c1233bddd41a6"/>
    <p:sldId xmlns:r="http://schemas.openxmlformats.org/officeDocument/2006/relationships" id="266" r:id="R8149ee32e3a440d6"/>
    <p:sldId xmlns:r="http://schemas.openxmlformats.org/officeDocument/2006/relationships" id="267" r:id="Rb0943ee5639249b4"/>
    <p:sldId xmlns:r="http://schemas.openxmlformats.org/officeDocument/2006/relationships" id="268" r:id="R8e912a586e824e9a"/>
    <p:sldId xmlns:r="http://schemas.openxmlformats.org/officeDocument/2006/relationships" id="269" r:id="R4c6ef8f2ce1141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5ce807e7554a6f" /><Relationship Type="http://schemas.openxmlformats.org/officeDocument/2006/relationships/slideMaster" Target="/ppt/slideMasters/slideMaster1.xml" Id="Rb70ebab5a4e9418c" /><Relationship Type="http://schemas.openxmlformats.org/officeDocument/2006/relationships/notesMaster" Target="/ppt/notesMasters/notesMaster1.xml" Id="Rf7960d5614f14299" /><Relationship Type="http://schemas.openxmlformats.org/officeDocument/2006/relationships/presProps" Target="/ppt/presProps.xml" Id="Rcf961b1fea8b4daf" /><Relationship Type="http://schemas.openxmlformats.org/officeDocument/2006/relationships/tableStyles" Target="/ppt/tableStyles.xml" Id="R1c1d88017b884feb" /><Relationship Type="http://schemas.openxmlformats.org/officeDocument/2006/relationships/slide" Target="/ppt/slides/slide1.xml" Id="R474dc97c7a9d41b0" /><Relationship Type="http://schemas.openxmlformats.org/officeDocument/2006/relationships/slide" Target="/ppt/slides/slide2.xml" Id="Ra7b07b9c860440a1" /><Relationship Type="http://schemas.openxmlformats.org/officeDocument/2006/relationships/slide" Target="/ppt/slides/slide3.xml" Id="R2cefe52608994767" /><Relationship Type="http://schemas.openxmlformats.org/officeDocument/2006/relationships/slide" Target="/ppt/slides/slide4.xml" Id="Rf37189ce5f6e4167" /><Relationship Type="http://schemas.openxmlformats.org/officeDocument/2006/relationships/slide" Target="/ppt/slides/slide5.xml" Id="Rfff4b645eaab4dfe" /><Relationship Type="http://schemas.openxmlformats.org/officeDocument/2006/relationships/slide" Target="/ppt/slides/slide6.xml" Id="Rb5bf2c40016c4998" /><Relationship Type="http://schemas.openxmlformats.org/officeDocument/2006/relationships/slide" Target="/ppt/slides/slide7.xml" Id="R15f83ce7cd6249fe" /><Relationship Type="http://schemas.openxmlformats.org/officeDocument/2006/relationships/slide" Target="/ppt/slides/slide8.xml" Id="R177e1ee5f1ce4dbf" /><Relationship Type="http://schemas.openxmlformats.org/officeDocument/2006/relationships/slide" Target="/ppt/slides/slide9.xml" Id="Rd27a8c4950fd4b14" /><Relationship Type="http://schemas.openxmlformats.org/officeDocument/2006/relationships/slide" Target="/ppt/slides/slide10.xml" Id="R789c1233bddd41a6" /><Relationship Type="http://schemas.openxmlformats.org/officeDocument/2006/relationships/slide" Target="/ppt/slides/slide11.xml" Id="R8149ee32e3a440d6" /><Relationship Type="http://schemas.openxmlformats.org/officeDocument/2006/relationships/slide" Target="/ppt/slides/slide12.xml" Id="Rb0943ee5639249b4" /><Relationship Type="http://schemas.openxmlformats.org/officeDocument/2006/relationships/slide" Target="/ppt/slides/slide13.xml" Id="R8e912a586e824e9a" /><Relationship Type="http://schemas.openxmlformats.org/officeDocument/2006/relationships/slide" Target="/ppt/slides/slide14.xml" Id="R4c6ef8f2ce1141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4eb80f3ad54c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611cb607e14c61" /><Relationship Type="http://schemas.openxmlformats.org/officeDocument/2006/relationships/notesMaster" Target="/ppt/notesMasters/notesMaster1.xml" Id="Rc333ed7e09f049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b553b98e5443bf" /><Relationship Type="http://schemas.openxmlformats.org/officeDocument/2006/relationships/notesMaster" Target="/ppt/notesMasters/notesMaster1.xml" Id="Re66edd9307e442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44010012304f79" /><Relationship Type="http://schemas.openxmlformats.org/officeDocument/2006/relationships/notesMaster" Target="/ppt/notesMasters/notesMaster1.xml" Id="Re7f12fcd118f42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513b8fec504933" /><Relationship Type="http://schemas.openxmlformats.org/officeDocument/2006/relationships/notesMaster" Target="/ppt/notesMasters/notesMaster1.xml" Id="R39c5bf0f58f242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85870195864b65" /><Relationship Type="http://schemas.openxmlformats.org/officeDocument/2006/relationships/notesMaster" Target="/ppt/notesMasters/notesMaster1.xml" Id="R4ad7459c271e4c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84ef9a594a4bc1" /><Relationship Type="http://schemas.openxmlformats.org/officeDocument/2006/relationships/notesMaster" Target="/ppt/notesMasters/notesMaster1.xml" Id="R9bbe221f76ad4d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a107c93912649dd" /><Relationship Type="http://schemas.openxmlformats.org/officeDocument/2006/relationships/notesMaster" Target="/ppt/notesMasters/notesMaster1.xml" Id="Rfa7a819896d341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3927d8f6b0e45f8" /><Relationship Type="http://schemas.openxmlformats.org/officeDocument/2006/relationships/notesMaster" Target="/ppt/notesMasters/notesMaster1.xml" Id="R6832b400cd2e419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7ea1cbd6e704926" /><Relationship Type="http://schemas.openxmlformats.org/officeDocument/2006/relationships/notesMaster" Target="/ppt/notesMasters/notesMaster1.xml" Id="R8f49b3d1625d43b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6daef821fc34cce" /><Relationship Type="http://schemas.openxmlformats.org/officeDocument/2006/relationships/notesMaster" Target="/ppt/notesMasters/notesMaster1.xml" Id="Re961b6fff7a44a2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8a20c7d268c4334" /><Relationship Type="http://schemas.openxmlformats.org/officeDocument/2006/relationships/notesMaster" Target="/ppt/notesMasters/notesMaster1.xml" Id="R20e012c5ba4a4e0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55be83f21694dbb" /><Relationship Type="http://schemas.openxmlformats.org/officeDocument/2006/relationships/notesMaster" Target="/ppt/notesMasters/notesMaster1.xml" Id="R9325d17bc5a242a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6a3aa52e99c4948" /><Relationship Type="http://schemas.openxmlformats.org/officeDocument/2006/relationships/notesMaster" Target="/ppt/notesMasters/notesMaster1.xml" Id="Rd358407dfb6e404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9cc9dc7486d460d" /><Relationship Type="http://schemas.openxmlformats.org/officeDocument/2006/relationships/notesMaster" Target="/ppt/notesMasters/notesMaster1.xml" Id="R8c29f9229ee943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report and verified project outputs; KNTU logo supplied by the student.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Kang et al., Electronics 2024, 13, 4237, Figure 1.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Kang et al., Electronics 2024, Sections 2–3 and problem P1/P2.</a:t>
            </a:r>
          </a:p>
          <a:p xmlns:a="http://schemas.openxmlformats.org/drawingml/2006/main">
            <a:r>
              <a:t>- Project report, mathematical formulation chapter.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Kang et al., Electronics 2024, Algorithms 1–2.</a:t>
            </a:r>
          </a:p>
          <a:p xmlns:a="http://schemas.openxmlformats.org/drawingml/2006/main">
            <a:r>
              <a:t>- Project paper-grid benchmark: exact_alg1_pso_sweep.json and gap1_results(1).json.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novelty is deliberately narrow: the RBF-SVR predicts only the altitude. The covariance matrix X and the trade-off variable gamma are still obtained by solving the exact convex P2 subproblem at the predicted altitude. This is why I describe the method as a hybrid surrogate, not an end-to-end replacement.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implementation: 02_Complete_ML_Analysis.ipynb, reference_solver.py, and benchmark_gap1.py.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outputs: ml_corrected_results.json and repeated_split_metrics.json.</a:t>
            </a:r>
          </a:p>
          <a:p xmlns:a="http://schemas.openxmlformats.org/drawingml/2006/main">
            <a:r>
              <a:t>- Dataset generation: 01_Dataset_Generation.ipynb and ds3.npz.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figure mae_vs_gap(1).png generated from ml_corrected_results.json.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outputs: repeated_split_metrics.json and svr_permutation_importance(1).png.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Kang et al., Electronics 2024, Figure 3(a).</a:t>
            </a:r>
          </a:p>
          <a:p xmlns:a="http://schemas.openxmlformats.org/drawingml/2006/main">
            <a:r>
              <a:t>- Project outputs: gap1_objective_comparison(1).png and gap1_results(1).json.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output gap1_altitude_comparison(1).png from the 0.1-degree paper-grid benchmark.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outputs: fast_solver_audit.json and label_quality_audit.json.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headline speed comparison refers to the paper's stated PSO configuration of 73 exact inner solves for Algorithm 1 versus one exact P2 solve after the SVR prediction. Our independent deterministic audit used scan and refinement, so I do not present 73 as a universal count. The result is a verified engineering comparison on the evaluated grid, not a proof of continuous global optimality.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Kang et al., Electronics 2024, Algorithm 1.</a:t>
            </a:r>
          </a:p>
          <a:p xmlns:a="http://schemas.openxmlformats.org/drawingml/2006/main">
            <a:r>
              <a:t>- Project evidence: exact_alg1_pso_sweep.json, gap1_results(1).json, and verification_log.txt.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[1] Kang et al., Electronics 2024, 13, 4237.</a:t>
            </a:r>
          </a:p>
          <a:p xmlns:a="http://schemas.openxmlformats.org/drawingml/2006/main">
            <a:r>
              <a:t>- [2] Sun et al., IEEE Transactions on Signal Processing, 2018.</a:t>
            </a:r>
          </a:p>
          <a:p xmlns:a="http://schemas.openxmlformats.org/drawingml/2006/main">
            <a:r>
              <a:t>- [3] Diamond and Boyd, Journal of Machine Learning Research, 2016.</a:t>
            </a:r>
          </a:p>
          <a:p xmlns:a="http://schemas.openxmlformats.org/drawingml/2006/main">
            <a:r>
              <a:t>- [4] Pedregosa et al., Journal of Machine Learning Research, 2011.</a:t>
            </a:r>
          </a:p>
          <a:p xmlns:a="http://schemas.openxmlformats.org/drawingml/2006/main">
            <a:r>
              <a:t>- The project additionally uses FISTA/Dykstra-style projections in the fast candidate solver; see audit_fast_solver.py.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only if asked about overfitting, data sufficiency, or outliers. The learning curve uses five-fold cross-validation on the 800-sample training partition only; the StandardScaler remains inside the Pipeline, so each fold fits preprocessing without leakage. Validation MAE decreases from 10.33 m at 96 training cases to 7.95 m at 640 cases. On the untouched 200-sample test set, the mean residual (label minus prediction) is -1.97 m, the residual standard deviation is 15.53 m, the median absolute residual is 4.68 m, and the 95th percentile absolute residual is 23.51 m. A larger altitude residual is not automatically a large engineering penalty because P1 is recomputed after the exact P2 solve.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Project-generated diagnostics: render_svr_diagnostics.py, ds3.npz, and svr_diagnostics.json.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8a70cd4dd947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d536697023461a" /><Relationship Type="http://schemas.openxmlformats.org/officeDocument/2006/relationships/slideLayout" Target="/ppt/slideLayouts/slideLayout1.xml" Id="R9e50e36699a24b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50e36699a24b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8cbe8a50b54688" /><Relationship Type="http://schemas.openxmlformats.org/officeDocument/2006/relationships/image" Target="/ppt/media/image.png" Id="R60da3438b2174cc2" /><Relationship Type="http://schemas.openxmlformats.org/officeDocument/2006/relationships/image" Target="/ppt/media/image2.png" Id="R652953be14a54ea1" /><Relationship Type="http://schemas.openxmlformats.org/officeDocument/2006/relationships/notesSlide" Target="/ppt/notesSlides/notesSlide1.xml" Id="R64d53ba431eb47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014587a2d34a23" /><Relationship Type="http://schemas.openxmlformats.org/officeDocument/2006/relationships/image" Target="/ppt/media/image3.png" Id="R13fa4adc62314e73" /><Relationship Type="http://schemas.openxmlformats.org/officeDocument/2006/relationships/image" Target="/ppt/media/image4.png" Id="Rfa6f995b7b2f460d" /><Relationship Type="http://schemas.openxmlformats.org/officeDocument/2006/relationships/image" Target="/ppt/media/image5.png" Id="Rbbd0f6481fd54df2" /><Relationship Type="http://schemas.openxmlformats.org/officeDocument/2006/relationships/notesSlide" Target="/ppt/notesSlides/notesSlide2.xml" Id="R76f0fc815e1d48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410c43d8914df6" /><Relationship Type="http://schemas.openxmlformats.org/officeDocument/2006/relationships/image" Target="/ppt/media/image6.png" Id="R9cd94728e7a2477c" /><Relationship Type="http://schemas.openxmlformats.org/officeDocument/2006/relationships/image" Target="/ppt/media/image7.png" Id="R3f577dba74a64514" /><Relationship Type="http://schemas.openxmlformats.org/officeDocument/2006/relationships/notesSlide" Target="/ppt/notesSlides/notesSlide3.xml" Id="R722cd799a5bd45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78a285d7694542" /><Relationship Type="http://schemas.openxmlformats.org/officeDocument/2006/relationships/image" Target="/ppt/media/image8.png" Id="R367b96ba9308467b" /><Relationship Type="http://schemas.openxmlformats.org/officeDocument/2006/relationships/image" Target="/ppt/media/image9.png" Id="Rc08adf8cd4c445d1" /><Relationship Type="http://schemas.openxmlformats.org/officeDocument/2006/relationships/notesSlide" Target="/ppt/notesSlides/notesSlide4.xml" Id="R3eb1fe578e3849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5f3c095e5e4527" /><Relationship Type="http://schemas.openxmlformats.org/officeDocument/2006/relationships/image" Target="/ppt/media/image10.png" Id="R840ed68f4d654089" /><Relationship Type="http://schemas.openxmlformats.org/officeDocument/2006/relationships/image" Target="/ppt/media/image11.png" Id="R6da2457d06614da6" /><Relationship Type="http://schemas.openxmlformats.org/officeDocument/2006/relationships/notesSlide" Target="/ppt/notesSlides/notesSlide5.xml" Id="R234b3431afd344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7e81774cd54bc4" /><Relationship Type="http://schemas.openxmlformats.org/officeDocument/2006/relationships/image" Target="/ppt/media/image12.png" Id="Rd4e3d03e65c74e4b" /><Relationship Type="http://schemas.openxmlformats.org/officeDocument/2006/relationships/image" Target="/ppt/media/image13.png" Id="Rda0cf519f65f494c" /><Relationship Type="http://schemas.openxmlformats.org/officeDocument/2006/relationships/notesSlide" Target="/ppt/notesSlides/notesSlide6.xml" Id="Rb37709626cfe49a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4f2c9cf0c54596" /><Relationship Type="http://schemas.openxmlformats.org/officeDocument/2006/relationships/image" Target="/ppt/media/image14.png" Id="R506ac9574d9042c4" /><Relationship Type="http://schemas.openxmlformats.org/officeDocument/2006/relationships/image" Target="/ppt/media/image15.png" Id="Rdf56a13c2d5941be" /><Relationship Type="http://schemas.openxmlformats.org/officeDocument/2006/relationships/image" Target="/ppt/media/image16.png" Id="R496cbe7cd0b7458c" /><Relationship Type="http://schemas.openxmlformats.org/officeDocument/2006/relationships/notesSlide" Target="/ppt/notesSlides/notesSlide7.xml" Id="R37b00494ceb449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535095a00438f" /><Relationship Type="http://schemas.openxmlformats.org/officeDocument/2006/relationships/image" Target="/ppt/media/image17.png" Id="R5f7dc4667a1146c7" /><Relationship Type="http://schemas.openxmlformats.org/officeDocument/2006/relationships/chart" Target="/ppt/slides/charts/chart1.xml" Id="R9be6e27f57cc4135" /><Relationship Type="http://schemas.openxmlformats.org/officeDocument/2006/relationships/image" Target="/ppt/media/image18.png" Id="Rc6d90d01347c4d28" /><Relationship Type="http://schemas.openxmlformats.org/officeDocument/2006/relationships/image" Target="/ppt/media/image19.png" Id="R8e6e3f3b33014eb5" /><Relationship Type="http://schemas.openxmlformats.org/officeDocument/2006/relationships/notesSlide" Target="/ppt/notesSlides/notesSlide8.xml" Id="Rcb0a633ef79e4f1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ee7893755148fe" /><Relationship Type="http://schemas.openxmlformats.org/officeDocument/2006/relationships/image" Target="/ppt/media/image20.png" Id="Rd233622ada024ca8" /><Relationship Type="http://schemas.openxmlformats.org/officeDocument/2006/relationships/image" Target="/ppt/media/image21.png" Id="R272c4f3ac0ef483b" /><Relationship Type="http://schemas.openxmlformats.org/officeDocument/2006/relationships/image" Target="/ppt/media/image22.png" Id="R15399a61699344dd" /><Relationship Type="http://schemas.openxmlformats.org/officeDocument/2006/relationships/image" Target="/ppt/media/image23.png" Id="Rdfb3084f3b864030" /><Relationship Type="http://schemas.openxmlformats.org/officeDocument/2006/relationships/image" Target="/ppt/media/image24.png" Id="R133a316b2b784832" /><Relationship Type="http://schemas.openxmlformats.org/officeDocument/2006/relationships/image" Target="/ppt/media/image25.png" Id="Rae70c90bcd0146ec" /><Relationship Type="http://schemas.openxmlformats.org/officeDocument/2006/relationships/notesSlide" Target="/ppt/notesSlides/notesSlide9.xml" Id="Rfa718bc5fc77448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5bf4c8254846cf" /><Relationship Type="http://schemas.openxmlformats.org/officeDocument/2006/relationships/image" Target="/ppt/media/image26.png" Id="Rbd35d901905345b6" /><Relationship Type="http://schemas.openxmlformats.org/officeDocument/2006/relationships/image" Target="/ppt/media/image27.png" Id="R61d1418d1c4b4001" /><Relationship Type="http://schemas.openxmlformats.org/officeDocument/2006/relationships/image" Target="/ppt/media/image28.png" Id="R93c07e0ef1374f94" /><Relationship Type="http://schemas.openxmlformats.org/officeDocument/2006/relationships/notesSlide" Target="/ppt/notesSlides/notesSlide10.xml" Id="Rb2fd52104ee34cb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5e9740eedd437a" /><Relationship Type="http://schemas.openxmlformats.org/officeDocument/2006/relationships/image" Target="/ppt/media/image29.png" Id="R15a0e8311f5e4cd3" /><Relationship Type="http://schemas.openxmlformats.org/officeDocument/2006/relationships/image" Target="/ppt/media/image30.png" Id="Rf76a42cc95d54861" /><Relationship Type="http://schemas.openxmlformats.org/officeDocument/2006/relationships/notesSlide" Target="/ppt/notesSlides/notesSlide11.xml" Id="R4ea3000f824b489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1ea5b2bb8142c4" /><Relationship Type="http://schemas.openxmlformats.org/officeDocument/2006/relationships/image" Target="/ppt/media/image31.png" Id="R52bb32605df449e3" /><Relationship Type="http://schemas.openxmlformats.org/officeDocument/2006/relationships/image" Target="/ppt/media/image32.png" Id="R5a4f0f9e0efb4f80" /><Relationship Type="http://schemas.openxmlformats.org/officeDocument/2006/relationships/notesSlide" Target="/ppt/notesSlides/notesSlide12.xml" Id="R99e36067635a463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6eaf10fb64504" /><Relationship Type="http://schemas.openxmlformats.org/officeDocument/2006/relationships/image" Target="/ppt/media/image33.png" Id="Rd0ccc25373ee4512" /><Relationship Type="http://schemas.openxmlformats.org/officeDocument/2006/relationships/image" Target="/ppt/media/image34.png" Id="R5a5f795a6d2c45e4" /><Relationship Type="http://schemas.openxmlformats.org/officeDocument/2006/relationships/notesSlide" Target="/ppt/notesSlides/notesSlide13.xml" Id="Rb0d9adba9a1f439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a5e85a89e3460e" /><Relationship Type="http://schemas.openxmlformats.org/officeDocument/2006/relationships/image" Target="/ppt/media/image20.png" Id="R276bf1b7ec4e4dc4" /><Relationship Type="http://schemas.openxmlformats.org/officeDocument/2006/relationships/image" Target="/ppt/media/image21.png" Id="Rb6e062530ab34672" /><Relationship Type="http://schemas.openxmlformats.org/officeDocument/2006/relationships/image" Target="/ppt/media/image22.png" Id="Rfbf9504367c0456d" /><Relationship Type="http://schemas.openxmlformats.org/officeDocument/2006/relationships/image" Target="/ppt/media/image23.png" Id="R20bdb832e6414acf" /><Relationship Type="http://schemas.openxmlformats.org/officeDocument/2006/relationships/notesSlide" Target="/ppt/notesSlides/notesSlide14.xml" Id="Redc44395633a4f71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MAE (m)</c:v>
          </c:tx>
          <c:spPr>
            <a:solidFill xmlns:a="http://schemas.openxmlformats.org/drawingml/2006/main">
              <a:srgbClr val="0B9A9A"/>
            </a:solidFill>
          </c:spPr>
          <c:dPt>
            <c:idx val="2"/>
            <c:invertIfNegative val="0"/>
            <c:spPr>
              <a:solidFill xmlns:a="http://schemas.openxmlformats.org/drawingml/2006/main">
                <a:srgbClr val="F28C28"/>
              </a:solidFill>
            </c:spPr>
          </c:dPt>
          <c:cat>
            <c:strLit>
              <c:ptCount val="4"/>
              <c:pt idx="0">
                <c:v>Linear</c:v>
              </c:pt>
              <c:pt idx="1">
                <c:v>Decision Tree</c:v>
              </c:pt>
              <c:pt idx="2">
                <c:v>SVR (RBF)</c:v>
              </c:pt>
              <c:pt idx="3">
                <c:v>MLP</c:v>
              </c:pt>
            </c:strLit>
          </c:cat>
          <c:val>
            <c:numLit>
              <c:formatCode>General</c:formatCode>
              <c:ptCount val="4"/>
              <c:pt idx="0">
                <c:v>8.472</c:v>
              </c:pt>
              <c:pt idx="1">
                <c:v>10.497</c:v>
              </c:pt>
              <c:pt idx="2">
                <c:v>7.88</c:v>
              </c:pt>
              <c:pt idx="3">
                <c:v>9.406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081D5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0EC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MAE (m)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F6F82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E0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22033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D5A1CB-F6D8-4B65-AD8B-A288846A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D58"/>
          </a:solidFill>
          <a:ln xmlns:a="http://schemas.openxmlformats.org/drawingml/2006/main" w="0">
            <a:solidFill>
              <a:srgbClr val="081D5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C8E432-ADD4-4251-AB57-D4ECEE94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A9A"/>
          </a:solidFill>
          <a:ln xmlns:a="http://schemas.openxmlformats.org/drawingml/2006/main" w="0">
            <a:solidFill>
              <a:srgbClr val="0B9A9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046C82-51BB-493B-98A8-5A9BFAA2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00125"/>
            <a:ext cx="790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081D58"/>
                </a:solidFill>
              </a:defRPr>
            </a:pPr>
            <a:r>
              <a:rPr sz="3600" b="1" i="0">
                <a:solidFill>
                  <a:srgbClr val="081D58"/>
                </a:solidFill>
              </a:rPr>
              <a:t>A Supervised Learning Surrogate for Joint Waveform and Altitude Optimization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29C52A-2A17-411B-B405-5213DF7D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0B9A9A"/>
                </a:solidFill>
              </a:defRPr>
            </a:pPr>
            <a:r>
              <a:rPr sz="1725" b="0" i="0">
                <a:solidFill>
                  <a:srgbClr val="0B9A9A"/>
                </a:solidFill>
              </a:rPr>
              <a:t>UAV-enabled integrated sensing and wireless power transfer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7D901F-3D3F-408C-B0AA-1151815D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121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28C2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0AF930-44F5-4C8F-BE15-089BD000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22033"/>
                </a:solidFill>
              </a:defRPr>
            </a:pPr>
            <a:r>
              <a:rPr sz="1425" b="1" i="0">
                <a:solidFill>
                  <a:srgbClr val="122033"/>
                </a:solidFill>
              </a:rPr>
              <a:t>Machine Learning Course 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EF489E-658D-4EE0-979D-D02BA371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95775"/>
            <a:ext cx="628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F6F82"/>
                </a:solidFill>
              </a:defRPr>
            </a:pPr>
            <a:r>
              <a:rPr sz="1275" b="0" i="0">
                <a:solidFill>
                  <a:srgbClr val="5F6F82"/>
                </a:solidFill>
              </a:rPr>
              <a:t>Mahdi Aslani  ·  Student ID 40301904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5F6F82"/>
                </a:solidFill>
              </a:defRPr>
            </a:pPr>
            <a:r>
              <a:rPr sz="1275" b="0" i="0">
                <a:solidFill>
                  <a:srgbClr val="5F6F82"/>
                </a:solidFill>
              </a:rPr>
              <a:t>Instructor: Dr. Aliyari  ·  August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C9D7B4-886A-47D7-99CB-12EBC42F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809625"/>
            <a:ext cx="2362200" cy="47625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da3438b2174cc2"/>
          <a:stretch xmlns:a="http://schemas.openxmlformats.org/drawingml/2006/main"/>
        </p:blipFill>
        <p:spPr>
          <a:xfrm xmlns:a="http://schemas.openxmlformats.org/drawingml/2006/main">
            <a:off x="9353550" y="1266825"/>
            <a:ext cx="1714500" cy="17145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006A75-88C9-47AC-AC7F-8D0841F9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4766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325" b="1" i="0">
                <a:solidFill>
                  <a:srgbClr val="081D58"/>
                </a:solidFill>
              </a:defRPr>
            </a:pPr>
            <a:r>
              <a:rPr sz="2325" b="1" i="0">
                <a:solidFill>
                  <a:srgbClr val="081D58"/>
                </a:solidFill>
              </a:rPr>
              <a:t>UAV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97D8A7-0A7B-4C10-A355-94765FC8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8576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0B9A9A"/>
                </a:solidFill>
              </a:defRPr>
            </a:pPr>
            <a:r>
              <a:rPr sz="1050" b="1" i="0">
                <a:solidFill>
                  <a:srgbClr val="0B9A9A"/>
                </a:solidFill>
              </a:rPr>
              <a:t>OPTIMIZATION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6D9034-CDCC-40A1-8408-B5B230E3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2100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0" i="0">
                <a:solidFill>
                  <a:srgbClr val="F28C28"/>
                </a:solidFill>
              </a:defRPr>
            </a:pPr>
            <a:r>
              <a:rPr sz="1725" b="0" i="0">
                <a:solidFill>
                  <a:srgbClr val="F28C28"/>
                </a:solidFill>
              </a:rPr>
              <a:t>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A8E6D4-DFA5-491D-A7C6-3FFA5940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6101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81D58"/>
                </a:solidFill>
              </a:defRPr>
            </a:pPr>
            <a:r>
              <a:rPr sz="975" b="1" i="0">
                <a:solidFill>
                  <a:srgbClr val="081D58"/>
                </a:solidFill>
              </a:rPr>
              <a:t>MACHINE LEARNING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1C8589-2957-4861-BDC8-14560E42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436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5F6F82"/>
                </a:solidFill>
              </a:defRPr>
            </a:pPr>
            <a:r>
              <a:rPr sz="825" b="0" i="0">
                <a:solidFill>
                  <a:srgbClr val="5F6F82"/>
                </a:solidFill>
              </a:rPr>
              <a:t>K. N. Toosi University of Technology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2953be14a54ea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1135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2F147D-C64B-4D94-937D-F337EEAE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D58"/>
          </a:solidFill>
          <a:ln xmlns:a="http://schemas.openxmlformats.org/drawingml/2006/main" w="0">
            <a:solidFill>
              <a:srgbClr val="081D5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EC4747-AFCB-46A4-B4A0-AAB50CA7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A9A"/>
          </a:solidFill>
          <a:ln xmlns:a="http://schemas.openxmlformats.org/drawingml/2006/main" w="0">
            <a:solidFill>
              <a:srgbClr val="0B9A9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E0E9B8-49D2-4D0E-A3F5-B81A746C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0B9A9A"/>
                </a:solidFill>
              </a:defRPr>
            </a:pPr>
            <a:r>
              <a:rPr sz="825" b="1" i="0">
                <a:solidFill>
                  <a:srgbClr val="0B9A9A"/>
                </a:solidFill>
              </a:rPr>
              <a:t>PROBLEM CONTEXT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fa4adc62314e73"/>
          <a:stretch xmlns:a="http://schemas.openxmlformats.org/drawingml/2006/main"/>
        </p:blipFill>
        <p:spPr>
          <a:xfrm xmlns:a="http://schemas.openxmlformats.org/drawingml/2006/main">
            <a:off x="11249025" y="13335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53B522-4932-4CE1-8F3E-4C185D56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1090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600AAD-8E12-4855-927A-0840D233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29400"/>
            <a:ext cx="3524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5F6F82"/>
                </a:solidFill>
              </a:defRPr>
            </a:pPr>
            <a:r>
              <a:rPr sz="675" b="0" i="0">
                <a:solidFill>
                  <a:srgbClr val="5F6F82"/>
                </a:solidFill>
              </a:rPr>
              <a:t>K. N. Toosi University of Technology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F543A0-1C21-474F-A8B0-0110076F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610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750" b="1" i="0">
                <a:solidFill>
                  <a:srgbClr val="081D58"/>
                </a:solidFill>
              </a:defRPr>
            </a:pPr>
            <a:r>
              <a:rPr sz="750" b="1" i="0">
                <a:solidFill>
                  <a:srgbClr val="081D58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CDC9F2-7F6B-4B1F-AC13-2C947BCC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081D58"/>
                </a:solidFill>
              </a:defRPr>
            </a:pPr>
            <a:r>
              <a:rPr sz="2700" b="1" i="0">
                <a:solidFill>
                  <a:srgbClr val="081D58"/>
                </a:solidFill>
              </a:rPr>
              <a:t>One airborne platform must serve two competing tasks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3045EA-E7E5-417B-8C8F-5B60C3CD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906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F6F82"/>
                </a:solidFill>
              </a:defRPr>
            </a:pPr>
            <a:r>
              <a:rPr sz="1275" b="0" i="0">
                <a:solidFill>
                  <a:srgbClr val="5F6F82"/>
                </a:solidFill>
              </a:rPr>
              <a:t>The same transmit waveform supports radar sensing and wireless power transfer.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5C5166-FAE4-4346-80A2-09949D0E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9A9A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6f995b7b2f460d"/>
          <a:stretch xmlns:a="http://schemas.openxmlformats.org/drawingml/2006/main"/>
        </p:blipFill>
        <p:spPr>
          <a:xfrm xmlns:a="http://schemas.openxmlformats.org/drawingml/2006/main">
            <a:off x="666750" y="1892619"/>
            <a:ext cx="5905500" cy="3148962"/>
          </a:xfrm>
          <a:prstGeom xmlns:a="http://schemas.openxmlformats.org/drawingml/2006/main" prst="roundRect">
            <a:avLst>
              <a:gd name="adj" fmla="val 3409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FA1705-DE41-400A-A3D0-1B9D5858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66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E9A"/>
          </a:solidFill>
          <a:ln xmlns:a="http://schemas.openxmlformats.org/drawingml/2006/main" w="0">
            <a:solidFill>
              <a:srgbClr val="164E9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F2BBBB-B097-42B3-8091-692A1668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812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22033"/>
                </a:solidFill>
              </a:defRPr>
            </a:pPr>
            <a:r>
              <a:rPr sz="1425" b="0" i="0">
                <a:solidFill>
                  <a:srgbClr val="122033"/>
                </a:solidFill>
              </a:rPr>
              <a:t>Radar sensing favors a desired beampattern around target directions.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334AF5-5ACC-4180-85EA-FCE740E52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943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FCA00A-BD0D-4525-8E95-EE9F12D4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575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22033"/>
                </a:solidFill>
              </a:defRPr>
            </a:pPr>
            <a:r>
              <a:rPr sz="1425" b="0" i="0">
                <a:solidFill>
                  <a:srgbClr val="122033"/>
                </a:solidFill>
              </a:rPr>
              <a:t>Wireless power transfer favors energy delivery toward ground devices.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C1CD03-0DD1-4959-B9AC-5AEC8076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819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9A9A"/>
          </a:solidFill>
          <a:ln xmlns:a="http://schemas.openxmlformats.org/drawingml/2006/main" w="0">
            <a:solidFill>
              <a:srgbClr val="0B9A9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F523AF-D0FF-4B74-A569-EA5766E7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733800"/>
            <a:ext cx="4095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22033"/>
                </a:solidFill>
              </a:defRPr>
            </a:pPr>
            <a:r>
              <a:rPr sz="1425" b="0" i="0">
                <a:solidFill>
                  <a:srgbClr val="122033"/>
                </a:solidFill>
              </a:rPr>
              <a:t>UAV altitude changes both path loss and array geometry, so the two decisions are coupled.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503717-843D-4039-9747-5408849E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0101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B9A9A"/>
                </a:solidFill>
              </a:defRPr>
            </a:pPr>
            <a:r>
              <a:rPr sz="1125" b="1" i="0">
                <a:solidFill>
                  <a:srgbClr val="0B9A9A"/>
                </a:solidFill>
              </a:rPr>
              <a:t>Design question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A9E8EF-B23A-4D7D-BBD7-C040C179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95900"/>
            <a:ext cx="4238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81D58"/>
                </a:solidFill>
              </a:defRPr>
            </a:pPr>
            <a:r>
              <a:rPr sz="1650" b="1" i="0">
                <a:solidFill>
                  <a:srgbClr val="081D58"/>
                </a:solidFill>
              </a:rPr>
              <a:t>Can previous optimized scenarios predict a useful altitude without discarding waveform constraints?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2F25A0-4965-4CAF-95B0-0752470D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1912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5F6F82"/>
                </a:solidFill>
              </a:defRPr>
            </a:pPr>
            <a:r>
              <a:rPr sz="750" b="0" i="0">
                <a:solidFill>
                  <a:srgbClr val="5F6F82"/>
                </a:solidFill>
              </a:rPr>
              <a:t>Source: Kang et al. (2024), Fig. 1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d0f6481fd54df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705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EDBD9B-DB19-42B1-BB96-950B5B80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D58"/>
          </a:solidFill>
          <a:ln xmlns:a="http://schemas.openxmlformats.org/drawingml/2006/main" w="0">
            <a:solidFill>
              <a:srgbClr val="081D5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04A4C6-AFDA-4E00-A97D-23D5F4AA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A9A"/>
          </a:solidFill>
          <a:ln xmlns:a="http://schemas.openxmlformats.org/drawingml/2006/main" w="0">
            <a:solidFill>
              <a:srgbClr val="0B9A9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BE9B86-F652-48E6-B343-1D21B9C4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0B9A9A"/>
                </a:solidFill>
              </a:defRPr>
            </a:pPr>
            <a:r>
              <a:rPr sz="825" b="1" i="0">
                <a:solidFill>
                  <a:srgbClr val="0B9A9A"/>
                </a:solidFill>
              </a:rPr>
              <a:t>MATHEMATICAL MODEL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d94728e7a2477c"/>
          <a:stretch xmlns:a="http://schemas.openxmlformats.org/drawingml/2006/main"/>
        </p:blipFill>
        <p:spPr>
          <a:xfrm xmlns:a="http://schemas.openxmlformats.org/drawingml/2006/main">
            <a:off x="11249025" y="13335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48B420-CF35-4465-9D73-C24E1B81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1090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56A749-216E-446D-8BC0-6C9C90E2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29400"/>
            <a:ext cx="3524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5F6F82"/>
                </a:solidFill>
              </a:defRPr>
            </a:pPr>
            <a:r>
              <a:rPr sz="675" b="0" i="0">
                <a:solidFill>
                  <a:srgbClr val="5F6F82"/>
                </a:solidFill>
              </a:rPr>
              <a:t>K. N. Toosi University of Technology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59ED72-4CC7-4149-96E8-C5A02161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610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750" b="1" i="0">
                <a:solidFill>
                  <a:srgbClr val="081D58"/>
                </a:solidFill>
              </a:defRPr>
            </a:pPr>
            <a:r>
              <a:rPr sz="750" b="1" i="0">
                <a:solidFill>
                  <a:srgbClr val="081D58"/>
                </a:solidFill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ACC244-96AC-493B-A791-6ABDCFD3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081D58"/>
                </a:solidFill>
              </a:defRPr>
            </a:pPr>
            <a:r>
              <a:rPr sz="2700" b="1" i="0">
                <a:solidFill>
                  <a:srgbClr val="081D58"/>
                </a:solidFill>
              </a:rPr>
              <a:t>The objective balances radar and power fidelity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A57572-0778-4CF4-B57A-1383A286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9A9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6C3142-6318-4082-AF44-6B4A7EA6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47850"/>
            <a:ext cx="8763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7F7F6"/>
          </a:solidFill>
          <a:ln xmlns:a="http://schemas.openxmlformats.org/drawingml/2006/main" w="9525">
            <a:solidFill>
              <a:srgbClr val="BCE7E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0B9A9A"/>
                </a:solidFill>
              </a:defRPr>
            </a:pPr>
            <a:r>
              <a:rPr sz="2700" b="1" i="0">
                <a:solidFill>
                  <a:srgbClr val="0B9A9A"/>
                </a:solidFill>
              </a:rPr>
              <a:t>P1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0AF476-9FF9-4B12-A959-23C79767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790700"/>
            <a:ext cx="885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081D58"/>
                </a:solidFill>
              </a:defRPr>
            </a:pPr>
            <a:r>
              <a:rPr sz="2325" b="1" i="0">
                <a:solidFill>
                  <a:srgbClr val="081D58"/>
                </a:solidFill>
              </a:rPr>
              <a:t>min   ρ · Lrad(X, γ)  +  (1 − ρ) · Lwpt(X, h)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563A2A-8F76-4B27-B1FF-1E053307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6479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53C425-8CA3-49CE-9DBB-AA7853A8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B9A9A"/>
                </a:solidFill>
              </a:defRPr>
            </a:pPr>
            <a:r>
              <a:rPr sz="1050" b="1" i="0">
                <a:solidFill>
                  <a:srgbClr val="0B9A9A"/>
                </a:solidFill>
              </a:rPr>
              <a:t>decision variables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6B0549-4DB4-4857-AAB6-EE9B917A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22033"/>
                </a:solidFill>
              </a:defRPr>
            </a:pPr>
            <a:r>
              <a:rPr sz="1800" b="1" i="0">
                <a:solidFill>
                  <a:srgbClr val="122033"/>
                </a:solidFill>
              </a:rPr>
              <a:t>waveform covariance X   ·   scaling γ   ·   UAV altitude 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B15D32-E17B-4B56-AA08-354496FE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671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28C28"/>
                </a:solidFill>
              </a:defRPr>
            </a:pPr>
            <a:r>
              <a:rPr sz="1050" b="1" i="0">
                <a:solidFill>
                  <a:srgbClr val="F28C28"/>
                </a:solidFill>
              </a:rPr>
              <a:t>physical constraints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D158BA-4294-4C2D-A598-569F42E5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38F15F-EE32-400D-866F-5E3191D0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8147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22033"/>
                </a:solidFill>
              </a:defRPr>
            </a:pPr>
            <a:r>
              <a:rPr sz="1350" b="0" i="0">
                <a:solidFill>
                  <a:srgbClr val="122033"/>
                </a:solidFill>
              </a:rPr>
              <a:t>X ⪰ 0  — positive semidefinite covariance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90692F-0BEE-43C4-B3AB-BE407DED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72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437C5F-2BF6-4588-B4E0-B8473B92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86300"/>
            <a:ext cx="466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22033"/>
                </a:solidFill>
              </a:defRPr>
            </a:pPr>
            <a:r>
              <a:rPr sz="1350" b="0" i="0">
                <a:solidFill>
                  <a:srgbClr val="122033"/>
                </a:solidFill>
              </a:rPr>
              <a:t>diag(X) = PT / N  — fixed per-antenna power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BCA04D-3D01-420C-AE50-AB140087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76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DEB8BA-0664-4B84-9DCF-2C08F58D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91125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22033"/>
                </a:solidFill>
              </a:defRPr>
            </a:pPr>
            <a:r>
              <a:rPr sz="1350" b="0" i="0">
                <a:solidFill>
                  <a:srgbClr val="122033"/>
                </a:solidFill>
              </a:rPr>
              <a:t>Hmin ≤ h ≤ Hmax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945C0C-3CEF-4710-AECF-29907738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05250"/>
            <a:ext cx="4333875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C7D7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34EB3C-4B3F-41B7-BFCA-165FD9CD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719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81D58"/>
                </a:solidFill>
              </a:defRPr>
            </a:pPr>
            <a:r>
              <a:rPr sz="1725" b="1" i="0">
                <a:solidFill>
                  <a:srgbClr val="081D58"/>
                </a:solidFill>
              </a:rPr>
              <a:t>Why P1 is difficult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AF6CB1-9E60-4A36-BCEA-94A6F815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629150"/>
            <a:ext cx="3619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22033"/>
                </a:solidFill>
              </a:defRPr>
            </a:pPr>
            <a:r>
              <a:rPr sz="1350" b="0" i="0">
                <a:solidFill>
                  <a:srgbClr val="122033"/>
                </a:solidFill>
              </a:rPr>
              <a:t>For a fixed altitude, P2|h is convex. Across altitude, the propagation-dependent objective is nonlinear and non-convex.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577dba74a6451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7279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27B2FF-5EF0-4602-B423-B2B12EC5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D58"/>
          </a:solidFill>
          <a:ln xmlns:a="http://schemas.openxmlformats.org/drawingml/2006/main" w="0">
            <a:solidFill>
              <a:srgbClr val="081D5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0754FC-7083-4F17-A686-CFBC784C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A9A"/>
          </a:solidFill>
          <a:ln xmlns:a="http://schemas.openxmlformats.org/drawingml/2006/main" w="0">
            <a:solidFill>
              <a:srgbClr val="0B9A9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A9EE1A-5CF5-4B58-A4FB-0F69B47C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0B9A9A"/>
                </a:solidFill>
              </a:defRPr>
            </a:pPr>
            <a:r>
              <a:rPr sz="825" b="1" i="0">
                <a:solidFill>
                  <a:srgbClr val="0B9A9A"/>
                </a:solidFill>
              </a:rPr>
              <a:t>REFERENCE SOLUTION</a:t>
            </a:r>
          </a:p>
        </p:txBody>
      </p:sp>
      <p:pic>
        <p:nvPicPr>
          <p:cNvPr id="1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7b96ba9308467b"/>
          <a:stretch xmlns:a="http://schemas.openxmlformats.org/drawingml/2006/main"/>
        </p:blipFill>
        <p:spPr>
          <a:xfrm xmlns:a="http://schemas.openxmlformats.org/drawingml/2006/main">
            <a:off x="11249025" y="13335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B0A624-5EDF-42F9-9298-2B22BAB9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1090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D32472-7954-42B9-842F-75B32861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29400"/>
            <a:ext cx="3524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5F6F82"/>
                </a:solidFill>
              </a:defRPr>
            </a:pPr>
            <a:r>
              <a:rPr sz="675" b="0" i="0">
                <a:solidFill>
                  <a:srgbClr val="5F6F82"/>
                </a:solidFill>
              </a:rPr>
              <a:t>K. N. Toosi University of Technology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51AA84-9CA2-4060-959F-700580A6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610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750" b="1" i="0">
                <a:solidFill>
                  <a:srgbClr val="081D58"/>
                </a:solidFill>
              </a:defRPr>
            </a:pPr>
            <a:r>
              <a:rPr sz="750" b="1" i="0">
                <a:solidFill>
                  <a:srgbClr val="081D58"/>
                </a:solidFill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E8FABB-A32F-4C6B-9068-44C12C5F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081D58"/>
                </a:solidFill>
              </a:defRPr>
            </a:pPr>
            <a:r>
              <a:rPr sz="2700" b="1" i="0">
                <a:solidFill>
                  <a:srgbClr val="081D58"/>
                </a:solidFill>
              </a:rPr>
              <a:t>Kang searches altitude outside the exact SDP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73FA27-2761-4BD8-929C-37842E71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9A9A"/>
            </a:solidFill>
            <a:prstDash val="solid"/>
          </a:ln>
        </p:spPr>
      </p:sp>
      <p:sp>
        <p:nvSpPr>
          <p:cNvPr id="10" name="ref-node-0">
            <a:extLst xmlns:a="http://schemas.openxmlformats.org/drawingml/2006/main">
              <a:ext uri="{FF2B5EF4-FFF2-40B4-BE49-F238E27FC236}">
                <a16:creationId xmlns:a16="http://schemas.microsoft.com/office/drawing/2014/main" id="{274ECD8D-7C63-49B8-9030-2C0E6952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21907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BFCFE4"/>
            </a:solidFill>
            <a:prstDash val="solid"/>
          </a:ln>
        </p:spPr>
      </p:sp>
      <p:sp>
        <p:nvSpPr>
          <p:cNvPr id="11" name="ref-node-1">
            <a:extLst xmlns:a="http://schemas.openxmlformats.org/drawingml/2006/main">
              <a:ext uri="{FF2B5EF4-FFF2-40B4-BE49-F238E27FC236}">
                <a16:creationId xmlns:a16="http://schemas.microsoft.com/office/drawing/2014/main" id="{DDBFE58F-F798-4463-ADB5-23300127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266950"/>
            <a:ext cx="21907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7F7F6"/>
          </a:solidFill>
          <a:ln xmlns:a="http://schemas.openxmlformats.org/drawingml/2006/main" w="9525">
            <a:solidFill>
              <a:srgbClr val="9EDDD7"/>
            </a:solidFill>
            <a:prstDash val="solid"/>
          </a:ln>
        </p:spPr>
      </p:sp>
      <p:sp>
        <p:nvSpPr>
          <p:cNvPr id="12" name="ref-node-2">
            <a:extLst xmlns:a="http://schemas.openxmlformats.org/drawingml/2006/main">
              <a:ext uri="{FF2B5EF4-FFF2-40B4-BE49-F238E27FC236}">
                <a16:creationId xmlns:a16="http://schemas.microsoft.com/office/drawing/2014/main" id="{B7625E28-E169-4FCA-844F-2B3D07B7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66950"/>
            <a:ext cx="21907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BFCFE4"/>
            </a:solidFill>
            <a:prstDash val="solid"/>
          </a:ln>
        </p:spPr>
      </p:sp>
      <p:sp>
        <p:nvSpPr>
          <p:cNvPr id="13" name="ref-node-3">
            <a:extLst xmlns:a="http://schemas.openxmlformats.org/drawingml/2006/main">
              <a:ext uri="{FF2B5EF4-FFF2-40B4-BE49-F238E27FC236}">
                <a16:creationId xmlns:a16="http://schemas.microsoft.com/office/drawing/2014/main" id="{6B8F3E90-4397-4258-81BC-13B0923D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66950"/>
            <a:ext cx="21907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BFCFE4"/>
            </a:solidFill>
            <a:prstDash val="solid"/>
          </a:ln>
        </p:spPr>
      </p:sp>
      <p:cxnSp>
        <p:nvCxnSpPr>
          <p:cNvPr id="151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933700" y="28765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9A9A"/>
            </a:solidFill>
            <a:prstDash val="solid"/>
            <a:tailEnd type="arrow" w="med" len="med"/>
          </a:ln>
        </p:spPr>
      </p:cxnSp>
      <p:cxnSp>
        <p:nvCxnSpPr>
          <p:cNvPr id="152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600700" y="28765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9A9A"/>
            </a:solidFill>
            <a:prstDash val="solid"/>
            <a:tailEnd type="arrow" w="med" len="med"/>
          </a:ln>
        </p:spPr>
      </p:cxnSp>
      <p:cxnSp>
        <p:nvCxnSpPr>
          <p:cNvPr id="153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267700" y="28765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9A9A"/>
            </a:solidFill>
            <a:prstDash val="solid"/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7FDE46-2015-4247-82C3-24521DD5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57450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081D58"/>
                </a:solidFill>
              </a:defRPr>
            </a:pPr>
            <a:r>
              <a:rPr sz="1575" b="1" i="0">
                <a:solidFill>
                  <a:srgbClr val="081D58"/>
                </a:solidFill>
              </a:rPr>
              <a:t>Candidate altitude 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D5DDFE-8802-4CD2-95B4-DEAA2174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5F6F82"/>
                </a:solidFill>
              </a:defRPr>
            </a:pPr>
            <a:r>
              <a:rPr sz="1050" b="0" i="0">
                <a:solidFill>
                  <a:srgbClr val="5F6F82"/>
                </a:solidFill>
              </a:rPr>
              <a:t>outer search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BBE03B-690F-448E-A184-E2E4B067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57450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081D58"/>
                </a:solidFill>
              </a:defRPr>
            </a:pPr>
            <a:r>
              <a:rPr sz="1575" b="1" i="0">
                <a:solidFill>
                  <a:srgbClr val="081D58"/>
                </a:solidFill>
              </a:rPr>
              <a:t>Solve P2 | 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BD69B9-BB60-46C5-A24F-D9B844A8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527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5F6F82"/>
                </a:solidFill>
              </a:defRPr>
            </a:pPr>
            <a:r>
              <a:rPr sz="1050" b="0" i="0">
                <a:solidFill>
                  <a:srgbClr val="5F6F82"/>
                </a:solidFill>
              </a:rPr>
              <a:t>convex SDP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590B86-DDF6-45C7-AA7E-64D0BB4E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57450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081D58"/>
                </a:solidFill>
              </a:defRPr>
            </a:pPr>
            <a:r>
              <a:rPr sz="1575" b="1" i="0">
                <a:solidFill>
                  <a:srgbClr val="081D58"/>
                </a:solidFill>
              </a:rPr>
              <a:t>Evaluate P1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2A8F67-F499-4329-A5DC-CEBD01B1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527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5F6F82"/>
                </a:solidFill>
              </a:defRPr>
            </a:pPr>
            <a:r>
              <a:rPr sz="1050" b="0" i="0">
                <a:solidFill>
                  <a:srgbClr val="5F6F82"/>
                </a:solidFill>
              </a:rPr>
              <a:t>radar + WPT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3D485B-0EA7-4213-957C-1D3857D4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457450"/>
            <a:ext cx="1885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081D58"/>
                </a:solidFill>
              </a:defRPr>
            </a:pPr>
            <a:r>
              <a:rPr sz="1575" b="1" i="0">
                <a:solidFill>
                  <a:srgbClr val="081D58"/>
                </a:solidFill>
              </a:rPr>
              <a:t>Update search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D35635-E1CC-4B9D-9A73-9377F4E0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527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5F6F82"/>
                </a:solidFill>
              </a:defRPr>
            </a:pPr>
            <a:r>
              <a:rPr sz="1050" b="0" i="0">
                <a:solidFill>
                  <a:srgbClr val="5F6F82"/>
                </a:solidFill>
              </a:rPr>
              <a:t>PSO / scan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91BA02-EF39-4D5D-9976-AA7FAE03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576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081D58"/>
                </a:solidFill>
              </a:defRPr>
            </a:pPr>
            <a:r>
              <a:rPr sz="1800" b="1" i="0">
                <a:solidFill>
                  <a:srgbClr val="081D58"/>
                </a:solidFill>
              </a:rPr>
              <a:t>Algorithm 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0D3B97-D14D-401A-BFF9-919B2133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577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22033"/>
                </a:solidFill>
              </a:defRPr>
            </a:pPr>
            <a:r>
              <a:rPr sz="1425" b="0" i="0">
                <a:solidFill>
                  <a:srgbClr val="122033"/>
                </a:solidFill>
              </a:rPr>
              <a:t>Accurate joint design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122033"/>
                </a:solidFill>
              </a:defRPr>
            </a:pPr>
            <a:r>
              <a:rPr sz="1425" b="0" i="0">
                <a:solidFill>
                  <a:srgbClr val="122033"/>
                </a:solidFill>
              </a:rPr>
              <a:t>Exact P2 at every outer evaluation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58C74C-5479-4110-A341-CD521589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149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F28C28"/>
                </a:solidFill>
              </a:defRPr>
            </a:pPr>
            <a:r>
              <a:rPr sz="2175" b="1" i="0">
                <a:solidFill>
                  <a:srgbClr val="F28C28"/>
                </a:solidFill>
              </a:rPr>
              <a:t>73 exact P2 solves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6FD288-8056-4AF5-B1B1-399DC26E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576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081D58"/>
                </a:solidFill>
              </a:defRPr>
            </a:pPr>
            <a:r>
              <a:rPr sz="1800" b="1" i="0">
                <a:solidFill>
                  <a:srgbClr val="081D58"/>
                </a:solidFill>
              </a:rPr>
              <a:t>Algorithm 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201FD1-AE0B-434F-820A-97C49CA9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577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22033"/>
                </a:solidFill>
              </a:defRPr>
            </a:pPr>
            <a:r>
              <a:rPr sz="1425" b="0" i="0">
                <a:solidFill>
                  <a:srgbClr val="122033"/>
                </a:solidFill>
              </a:rPr>
              <a:t>Restricted waveform structure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122033"/>
                </a:solidFill>
              </a:defRPr>
            </a:pPr>
            <a:r>
              <a:rPr sz="1425" b="0" i="0">
                <a:solidFill>
                  <a:srgbClr val="122033"/>
                </a:solidFill>
              </a:rPr>
              <a:t>Lower complexity, near-optimal result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769F29-CF92-4C5F-BB9C-C04D1941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3149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0B9A9A"/>
                </a:solidFill>
              </a:defRPr>
            </a:pPr>
            <a:r>
              <a:rPr sz="2175" b="1" i="0">
                <a:solidFill>
                  <a:srgbClr val="0B9A9A"/>
                </a:solidFill>
              </a:rPr>
              <a:t>≈ 0.15–3.08% gap</a:t>
            </a:r>
          </a:p>
        </p:txBody>
      </p:sp>
      <p:pic>
        <p:nvPicPr>
          <p:cNvPr id="1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8adf8cd4c445d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0376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04F7282-E101-4A4D-AA56-CE989A15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D58"/>
          </a:solidFill>
          <a:ln xmlns:a="http://schemas.openxmlformats.org/drawingml/2006/main" w="0">
            <a:solidFill>
              <a:srgbClr val="081D5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A3E537-AA43-40BA-8174-32EB2F8C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A9A"/>
          </a:solidFill>
          <a:ln xmlns:a="http://schemas.openxmlformats.org/drawingml/2006/main" w="0">
            <a:solidFill>
              <a:srgbClr val="0B9A9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664E03-C7F8-4999-9AAF-B3887BE6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0B9A9A"/>
                </a:solidFill>
              </a:defRPr>
            </a:pPr>
            <a:r>
              <a:rPr sz="825" b="1" i="0">
                <a:solidFill>
                  <a:srgbClr val="0B9A9A"/>
                </a:solidFill>
              </a:rPr>
              <a:t>OUR CONTRIBUTION</a:t>
            </a:r>
          </a:p>
        </p:txBody>
      </p:sp>
      <p:pic>
        <p:nvPicPr>
          <p:cNvPr id="1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0ed68f4d654089"/>
          <a:stretch xmlns:a="http://schemas.openxmlformats.org/drawingml/2006/main"/>
        </p:blipFill>
        <p:spPr>
          <a:xfrm xmlns:a="http://schemas.openxmlformats.org/drawingml/2006/main">
            <a:off x="11249025" y="13335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13B9AF-7899-40C7-84C0-3282FE2B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1090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B4045F-3108-4C05-80E6-554E1435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29400"/>
            <a:ext cx="3524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5F6F82"/>
                </a:solidFill>
              </a:defRPr>
            </a:pPr>
            <a:r>
              <a:rPr sz="675" b="0" i="0">
                <a:solidFill>
                  <a:srgbClr val="5F6F82"/>
                </a:solidFill>
              </a:rPr>
              <a:t>K. N. Toosi University of Technology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B070AA-558C-435C-A6F8-AFF2DEFB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610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750" b="1" i="0">
                <a:solidFill>
                  <a:srgbClr val="081D58"/>
                </a:solidFill>
              </a:defRPr>
            </a:pPr>
            <a:r>
              <a:rPr sz="750" b="1" i="0">
                <a:solidFill>
                  <a:srgbClr val="081D58"/>
                </a:solidFill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568610-0F1A-4AF5-AA44-8AC13200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081D58"/>
                </a:solidFill>
              </a:defRPr>
            </a:pPr>
            <a:r>
              <a:rPr sz="2700" b="1" i="0">
                <a:solidFill>
                  <a:srgbClr val="081D58"/>
                </a:solidFill>
              </a:rPr>
              <a:t>We learn altitude but keep exact waveform design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DDE880-4396-4349-AD3A-23D15A7B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906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F6F82"/>
                </a:solidFill>
              </a:defRPr>
            </a:pPr>
            <a:r>
              <a:rPr sz="1275" b="0" i="0">
                <a:solidFill>
                  <a:srgbClr val="5F6F82"/>
                </a:solidFill>
              </a:rPr>
              <a:t>ML replaces only the outer search; one exact P2 solve preserves feasibility.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7F908F-D201-4DFF-AFA5-712A7DB8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9A9A"/>
            </a:solidFill>
            <a:prstDash val="solid"/>
          </a:ln>
        </p:spPr>
      </p:sp>
      <p:sp>
        <p:nvSpPr>
          <p:cNvPr id="11" name="hybrid-node-0">
            <a:extLst xmlns:a="http://schemas.openxmlformats.org/drawingml/2006/main">
              <a:ext uri="{FF2B5EF4-FFF2-40B4-BE49-F238E27FC236}">
                <a16:creationId xmlns:a16="http://schemas.microsoft.com/office/drawing/2014/main" id="{9B5B0247-1A55-42C5-B0AA-96FDAC3E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57450"/>
            <a:ext cx="17145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11430">
            <a:solidFill>
              <a:srgbClr val="BFD2E6"/>
            </a:solidFill>
            <a:prstDash val="solid"/>
          </a:ln>
        </p:spPr>
      </p:sp>
      <p:sp>
        <p:nvSpPr>
          <p:cNvPr id="12" name="hybrid-node-1">
            <a:extLst xmlns:a="http://schemas.openxmlformats.org/drawingml/2006/main">
              <a:ext uri="{FF2B5EF4-FFF2-40B4-BE49-F238E27FC236}">
                <a16:creationId xmlns:a16="http://schemas.microsoft.com/office/drawing/2014/main" id="{16ECB4C1-EF6D-44B1-ADA3-FFB48EB1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57450"/>
            <a:ext cx="19050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11430">
            <a:solidFill>
              <a:srgbClr val="BFD2E6"/>
            </a:solidFill>
            <a:prstDash val="solid"/>
          </a:ln>
        </p:spPr>
      </p:sp>
      <p:sp>
        <p:nvSpPr>
          <p:cNvPr id="13" name="hybrid-node-2">
            <a:extLst xmlns:a="http://schemas.openxmlformats.org/drawingml/2006/main">
              <a:ext uri="{FF2B5EF4-FFF2-40B4-BE49-F238E27FC236}">
                <a16:creationId xmlns:a16="http://schemas.microsoft.com/office/drawing/2014/main" id="{CBEBC546-9297-4B9B-AC90-ECDE5CF1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457450"/>
            <a:ext cx="17145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E7F7F6"/>
          </a:solidFill>
          <a:ln xmlns:a="http://schemas.openxmlformats.org/drawingml/2006/main" w="11430">
            <a:solidFill>
              <a:srgbClr val="BFD2E6"/>
            </a:solidFill>
            <a:prstDash val="solid"/>
          </a:ln>
        </p:spPr>
      </p:sp>
      <p:sp>
        <p:nvSpPr>
          <p:cNvPr id="14" name="hybrid-node-3">
            <a:extLst xmlns:a="http://schemas.openxmlformats.org/drawingml/2006/main">
              <a:ext uri="{FF2B5EF4-FFF2-40B4-BE49-F238E27FC236}">
                <a16:creationId xmlns:a16="http://schemas.microsoft.com/office/drawing/2014/main" id="{B5D40F6B-F27F-4602-AA0E-4561E92B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457450"/>
            <a:ext cx="1666875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E7F7F6"/>
          </a:solidFill>
          <a:ln xmlns:a="http://schemas.openxmlformats.org/drawingml/2006/main" w="11430">
            <a:solidFill>
              <a:srgbClr val="BFD2E6"/>
            </a:solidFill>
            <a:prstDash val="solid"/>
          </a:ln>
        </p:spPr>
      </p:sp>
      <p:sp>
        <p:nvSpPr>
          <p:cNvPr id="15" name="hybrid-node-4">
            <a:extLst xmlns:a="http://schemas.openxmlformats.org/drawingml/2006/main">
              <a:ext uri="{FF2B5EF4-FFF2-40B4-BE49-F238E27FC236}">
                <a16:creationId xmlns:a16="http://schemas.microsoft.com/office/drawing/2014/main" id="{26A058F6-BAC8-486F-AF84-ABEAB424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57450"/>
            <a:ext cx="22860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3E6"/>
          </a:solidFill>
          <a:ln xmlns:a="http://schemas.openxmlformats.org/drawingml/2006/main" w="11430">
            <a:solidFill>
              <a:srgbClr val="F4C58F"/>
            </a:solidFill>
            <a:prstDash val="solid"/>
          </a:ln>
        </p:spPr>
      </p:sp>
      <p:cxnSp>
        <p:nvCxnSpPr>
          <p:cNvPr id="184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333625" y="31337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B9A9A"/>
            </a:solidFill>
            <a:prstDash val="solid"/>
            <a:tailEnd type="arrow" w="med" len="med"/>
          </a:ln>
        </p:spPr>
      </p:cxnSp>
      <p:cxnSp>
        <p:nvCxnSpPr>
          <p:cNvPr id="185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619625" y="31337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B9A9A"/>
            </a:solidFill>
            <a:prstDash val="solid"/>
            <a:tailEnd type="arrow" w="med" len="med"/>
          </a:ln>
        </p:spPr>
      </p:cxnSp>
      <p:cxnSp>
        <p:nvCxnSpPr>
          <p:cNvPr id="186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715125" y="31337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B9A9A"/>
            </a:solidFill>
            <a:prstDash val="solid"/>
            <a:tailEnd type="arrow" w="med" len="med"/>
          </a:ln>
        </p:spPr>
      </p:cxnSp>
      <p:cxnSp>
        <p:nvCxnSpPr>
          <p:cNvPr id="187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763000" y="31337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B9A9A"/>
            </a:solidFill>
            <a:prstDash val="solid"/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A4D7E2-57DB-4195-8229-DF9679DA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860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081D58"/>
                </a:solidFill>
              </a:defRPr>
            </a:pPr>
            <a:r>
              <a:rPr sz="1650" b="1" i="0">
                <a:solidFill>
                  <a:srgbClr val="081D58"/>
                </a:solidFill>
              </a:rPr>
              <a:t>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D2E44F-F349-457D-8027-0F251239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209925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5F6F82"/>
                </a:solidFill>
              </a:defRPr>
            </a:pPr>
            <a:r>
              <a:rPr sz="1050" b="0" i="0">
                <a:solidFill>
                  <a:srgbClr val="5F6F82"/>
                </a:solidFill>
              </a:rPr>
              <a:t>8 input features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D3A04B-CE4B-41DB-BB4F-6960A5D0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686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081D58"/>
                </a:solidFill>
              </a:defRPr>
            </a:pPr>
            <a:r>
              <a:rPr sz="1650" b="1" i="0">
                <a:solidFill>
                  <a:srgbClr val="081D58"/>
                </a:solidFill>
              </a:rPr>
              <a:t>Canonicalize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8696F3-6E0A-4FF1-AE3A-7B74272C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209925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5F6F82"/>
                </a:solidFill>
              </a:defRPr>
            </a:pPr>
            <a:r>
              <a:rPr sz="1050" b="0" i="0">
                <a:solidFill>
                  <a:srgbClr val="5F6F82"/>
                </a:solidFill>
              </a:rPr>
              <a:t>sort EHD pairs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54AD4E-A0E4-4717-AC96-CC1A5A81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6860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081D58"/>
                </a:solidFill>
              </a:defRPr>
            </a:pPr>
            <a:r>
              <a:rPr sz="1650" b="1" i="0">
                <a:solidFill>
                  <a:srgbClr val="081D58"/>
                </a:solidFill>
              </a:rPr>
              <a:t>RBF-SVR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746CF6-9693-4456-BD1F-E5573DB0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209925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5F6F82"/>
                </a:solidFill>
              </a:defRPr>
            </a:pPr>
            <a:r>
              <a:rPr sz="1050" b="0" i="0">
                <a:solidFill>
                  <a:srgbClr val="5F6F82"/>
                </a:solidFill>
              </a:rPr>
              <a:t>predict altitude 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CBCB13-D044-4F07-B436-A6646A2A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686050"/>
            <a:ext cx="147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081D58"/>
                </a:solidFill>
              </a:defRPr>
            </a:pPr>
            <a:r>
              <a:rPr sz="1650" b="1" i="0">
                <a:solidFill>
                  <a:srgbClr val="081D58"/>
                </a:solidFill>
              </a:rPr>
              <a:t>Clip 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B90069-60E5-4CC1-A5C4-2ADBDF90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209925"/>
            <a:ext cx="1438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5F6F82"/>
                </a:solidFill>
              </a:defRPr>
            </a:pPr>
            <a:r>
              <a:rPr sz="1050" b="0" i="0">
                <a:solidFill>
                  <a:srgbClr val="5F6F82"/>
                </a:solidFill>
              </a:rPr>
              <a:t>[Hmin, Hmax]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E3DAA4-C075-4160-ADBD-22522267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860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081D58"/>
                </a:solidFill>
              </a:defRPr>
            </a:pPr>
            <a:r>
              <a:rPr sz="1650" b="1" i="0">
                <a:solidFill>
                  <a:srgbClr val="081D58"/>
                </a:solidFill>
              </a:rPr>
              <a:t>Exact P2 | 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19B0AB-2AAF-44CE-AA2D-CC7909FF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09925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5F6F82"/>
                </a:solidFill>
              </a:defRPr>
            </a:pPr>
            <a:r>
              <a:rPr sz="1050" b="0" i="0">
                <a:solidFill>
                  <a:srgbClr val="5F6F82"/>
                </a:solidFill>
              </a:rPr>
              <a:t>return feasible X and γ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11E968-84FD-4018-AC97-ACA87786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10527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0B9A9A"/>
                </a:solidFill>
              </a:defRPr>
            </a:pPr>
            <a:r>
              <a:rPr sz="900" b="1" i="0">
                <a:solidFill>
                  <a:srgbClr val="0B9A9A"/>
                </a:solidFill>
              </a:rPr>
              <a:t>ML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6AC6B3-1E2F-409A-B663-6DF8E884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105275"/>
            <a:ext cx="2324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F28C28"/>
                </a:solidFill>
              </a:defRPr>
            </a:pPr>
            <a:r>
              <a:rPr sz="900" b="1" i="0">
                <a:solidFill>
                  <a:srgbClr val="F28C28"/>
                </a:solidFill>
              </a:rPr>
              <a:t>Physics-constrained output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DDCB20-9CA5-4187-B95F-AB6EC639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953000"/>
            <a:ext cx="2286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AB1E92-76A3-456C-925E-12814323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9530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A9A"/>
          </a:solidFill>
          <a:ln xmlns:a="http://schemas.openxmlformats.org/drawingml/2006/main" w="0">
            <a:solidFill>
              <a:srgbClr val="0B9A9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F5381F-1120-4103-8C0A-24D3F507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5086350"/>
            <a:ext cx="1924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081D58"/>
                </a:solidFill>
              </a:defRPr>
            </a:pPr>
            <a:r>
              <a:rPr sz="2175" b="1" i="0">
                <a:solidFill>
                  <a:srgbClr val="081D58"/>
                </a:solidFill>
              </a:rPr>
              <a:t>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9F38DC-9B96-4B65-BA70-7149D7C7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5543550"/>
            <a:ext cx="1924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F6F82"/>
                </a:solidFill>
              </a:defRPr>
            </a:pPr>
            <a:r>
              <a:rPr sz="1050" b="0" i="0">
                <a:solidFill>
                  <a:srgbClr val="5F6F82"/>
                </a:solidFill>
              </a:rPr>
              <a:t>altitude prediction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22F78E-B72C-48D4-8947-42E33B4B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53000"/>
            <a:ext cx="2286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B52A76A-643B-4939-BA2C-9A0D6E3E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530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F3D80E0-9869-4698-BFF7-9E379D28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86350"/>
            <a:ext cx="1924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081D58"/>
                </a:solidFill>
              </a:defRPr>
            </a:pPr>
            <a:r>
              <a:rPr sz="2175" b="1" i="0">
                <a:solidFill>
                  <a:srgbClr val="081D58"/>
                </a:solidFill>
              </a:rPr>
              <a:t>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12133D1-308F-41A0-BE93-64103024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543550"/>
            <a:ext cx="1924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F6F82"/>
                </a:solidFill>
              </a:defRPr>
            </a:pPr>
            <a:r>
              <a:rPr sz="1050" b="0" i="0">
                <a:solidFill>
                  <a:srgbClr val="5F6F82"/>
                </a:solidFill>
              </a:rPr>
              <a:t>exact P2 solve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05C6748-D813-4165-9474-E96C5E0E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953000"/>
            <a:ext cx="2857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2059F0C-1554-46E2-9CCA-B2B31C06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9530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D58"/>
          </a:solidFill>
          <a:ln xmlns:a="http://schemas.openxmlformats.org/drawingml/2006/main" w="0">
            <a:solidFill>
              <a:srgbClr val="081D5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874697B-4035-4AC1-9970-BA2FCA6B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5086350"/>
            <a:ext cx="2495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081D58"/>
                </a:solidFill>
              </a:defRPr>
            </a:pPr>
            <a:r>
              <a:rPr sz="2175" b="1" i="0">
                <a:solidFill>
                  <a:srgbClr val="081D58"/>
                </a:solidFill>
              </a:rPr>
              <a:t>PSD + fixed diagonal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0D5DB32-D1CD-4CED-BCE7-D64E148D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5543550"/>
            <a:ext cx="2495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F6F82"/>
                </a:solidFill>
              </a:defRPr>
            </a:pPr>
            <a:r>
              <a:rPr sz="1050" b="0" i="0">
                <a:solidFill>
                  <a:srgbClr val="5F6F82"/>
                </a:solidFill>
              </a:rPr>
              <a:t>feasibility retained by construction</a:t>
            </a:r>
          </a:p>
        </p:txBody>
      </p:sp>
      <p:pic>
        <p:nvPicPr>
          <p:cNvPr id="2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a2457d06614da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5304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7B2E19E-C14B-432C-8F7B-2F9E3EE6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D58"/>
          </a:solidFill>
          <a:ln xmlns:a="http://schemas.openxmlformats.org/drawingml/2006/main" w="0">
            <a:solidFill>
              <a:srgbClr val="081D5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EB94E4-5B9C-4910-9D62-563A01CD5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A9A"/>
          </a:solidFill>
          <a:ln xmlns:a="http://schemas.openxmlformats.org/drawingml/2006/main" w="0">
            <a:solidFill>
              <a:srgbClr val="0B9A9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B4BCC5-2C77-4BE8-B224-D4AC073B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0B9A9A"/>
                </a:solidFill>
              </a:defRPr>
            </a:pPr>
            <a:r>
              <a:rPr sz="825" b="1" i="0">
                <a:solidFill>
                  <a:srgbClr val="0B9A9A"/>
                </a:solidFill>
              </a:rPr>
              <a:t>DATA AND EVALUATION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e3d03e65c74e4b"/>
          <a:stretch xmlns:a="http://schemas.openxmlformats.org/drawingml/2006/main"/>
        </p:blipFill>
        <p:spPr>
          <a:xfrm xmlns:a="http://schemas.openxmlformats.org/drawingml/2006/main">
            <a:off x="11249025" y="13335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C57F26-877A-4A8D-949C-06F5CB45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1090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CA941D-9ED1-4166-ACFA-42DA0D81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29400"/>
            <a:ext cx="3524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5F6F82"/>
                </a:solidFill>
              </a:defRPr>
            </a:pPr>
            <a:r>
              <a:rPr sz="675" b="0" i="0">
                <a:solidFill>
                  <a:srgbClr val="5F6F82"/>
                </a:solidFill>
              </a:rPr>
              <a:t>K. N. Toosi University of Technology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785120-FA55-4053-803F-FE1329A3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610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750" b="1" i="0">
                <a:solidFill>
                  <a:srgbClr val="081D58"/>
                </a:solidFill>
              </a:defRPr>
            </a:pPr>
            <a:r>
              <a:rPr sz="750" b="1" i="0">
                <a:solidFill>
                  <a:srgbClr val="081D58"/>
                </a:solidFill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DAB35E-E655-47B6-A88D-20C1CA07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081D58"/>
                </a:solidFill>
              </a:defRPr>
            </a:pPr>
            <a:r>
              <a:rPr sz="2700" b="1" i="0">
                <a:solidFill>
                  <a:srgbClr val="081D58"/>
                </a:solidFill>
              </a:rPr>
              <a:t>Reproducible data supports two levels of evaluation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F928E9-0AE5-4B25-B19D-DCB785E4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9A9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BD6975-E170-43A3-BE07-3B282CCD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2238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004058-ADD9-4C9B-ABC7-4185EDCB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D58"/>
          </a:solidFill>
          <a:ln xmlns:a="http://schemas.openxmlformats.org/drawingml/2006/main" w="0">
            <a:solidFill>
              <a:srgbClr val="081D5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8B6734-184C-4440-90E2-9B21A78A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18764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081D58"/>
                </a:solidFill>
              </a:defRPr>
            </a:pPr>
            <a:r>
              <a:rPr sz="2175" b="1" i="0">
                <a:solidFill>
                  <a:srgbClr val="081D58"/>
                </a:solidFill>
              </a:rPr>
              <a:t>1,000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A0DA46-43C4-49E5-BD0A-332182F7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76500"/>
            <a:ext cx="1876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F6F82"/>
                </a:solidFill>
              </a:defRPr>
            </a:pPr>
            <a:r>
              <a:rPr sz="1050" b="0" i="0">
                <a:solidFill>
                  <a:srgbClr val="5F6F82"/>
                </a:solidFill>
              </a:rPr>
              <a:t>simulated scenarios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3536DC-A0AC-4EEE-9D97-B0227176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885950"/>
            <a:ext cx="2238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022A09-1D6F-48E2-9426-75514713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8859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A9A"/>
          </a:solidFill>
          <a:ln xmlns:a="http://schemas.openxmlformats.org/drawingml/2006/main" w="0">
            <a:solidFill>
              <a:srgbClr val="0B9A9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373D23-5798-4512-8079-CC15633E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019300"/>
            <a:ext cx="18764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081D58"/>
                </a:solidFill>
              </a:defRPr>
            </a:pPr>
            <a:r>
              <a:rPr sz="2175" b="1" i="0">
                <a:solidFill>
                  <a:srgbClr val="081D58"/>
                </a:solidFill>
              </a:rPr>
              <a:t>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808F8-3956-44C3-8839-9C0FBBE4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476500"/>
            <a:ext cx="1876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F6F82"/>
                </a:solidFill>
              </a:defRPr>
            </a:pPr>
            <a:r>
              <a:rPr sz="1050" b="0" i="0">
                <a:solidFill>
                  <a:srgbClr val="5F6F82"/>
                </a:solidFill>
              </a:rPr>
              <a:t>geometric + control features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F857D0-94D2-44F4-8318-11338118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885950"/>
            <a:ext cx="2238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563769-D301-44F2-B124-7C4B8E13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8859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B62C35-FEDB-4EE4-ABE4-668DBDCB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19300"/>
            <a:ext cx="18764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081D58"/>
                </a:solidFill>
              </a:defRPr>
            </a:pPr>
            <a:r>
              <a:rPr sz="2175" b="1" i="0">
                <a:solidFill>
                  <a:srgbClr val="081D58"/>
                </a:solidFill>
              </a:rPr>
              <a:t>800 / 200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D29BF0-5019-43DE-8BC6-AD60CBDB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76500"/>
            <a:ext cx="1876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F6F82"/>
                </a:solidFill>
              </a:defRPr>
            </a:pPr>
            <a:r>
              <a:rPr sz="1050" b="0" i="0">
                <a:solidFill>
                  <a:srgbClr val="5F6F82"/>
                </a:solidFill>
              </a:rPr>
              <a:t>train / held-out test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C5221A-6700-4D71-B695-E22846D0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885950"/>
            <a:ext cx="2238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A992ED-0411-4C28-8B93-C76B27DE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8859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A36A"/>
          </a:solidFill>
          <a:ln xmlns:a="http://schemas.openxmlformats.org/drawingml/2006/main" w="0">
            <a:solidFill>
              <a:srgbClr val="28A36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E9DD0C-6CF9-44A7-978B-524677D1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019300"/>
            <a:ext cx="18764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081D58"/>
                </a:solidFill>
              </a:defRPr>
            </a:pPr>
            <a:r>
              <a:rPr sz="2175" b="1" i="0">
                <a:solidFill>
                  <a:srgbClr val="081D58"/>
                </a:solidFill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EFBF68-D627-4F13-8500-A5EF3DF7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476500"/>
            <a:ext cx="1876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F6F82"/>
                </a:solidFill>
              </a:defRPr>
            </a:pPr>
            <a:r>
              <a:rPr sz="1050" b="0" i="0">
                <a:solidFill>
                  <a:srgbClr val="5F6F82"/>
                </a:solidFill>
              </a:rPr>
              <a:t>independent test splits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16C90C-2BB8-44C6-8406-74545CC2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81D58"/>
                </a:solidFill>
              </a:defRPr>
            </a:pPr>
            <a:r>
              <a:rPr sz="1575" b="1" i="0">
                <a:solidFill>
                  <a:srgbClr val="081D58"/>
                </a:solidFill>
              </a:rPr>
              <a:t>Input representation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BECCCC-8D5E-4467-8FA6-052FCB9C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38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9A9A"/>
          </a:solidFill>
          <a:ln xmlns:a="http://schemas.openxmlformats.org/drawingml/2006/main" w="0">
            <a:solidFill>
              <a:srgbClr val="0B9A9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105759-3973-4945-B816-4C0F89BB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22033"/>
                </a:solidFill>
              </a:defRPr>
            </a:pPr>
            <a:r>
              <a:rPr sz="1275" b="0" i="0">
                <a:solidFill>
                  <a:srgbClr val="122033"/>
                </a:solidFill>
              </a:rPr>
              <a:t>ρ, target angles, and two EHD positions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BBB416-1030-4D77-9785-EA6917FC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52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9A9A"/>
          </a:solidFill>
          <a:ln xmlns:a="http://schemas.openxmlformats.org/drawingml/2006/main" w="0">
            <a:solidFill>
              <a:srgbClr val="0B9A9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B166B9-4987-4CB5-B544-895992CB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22033"/>
                </a:solidFill>
              </a:defRPr>
            </a:pPr>
            <a:r>
              <a:rPr sz="1275" b="0" i="0">
                <a:solidFill>
                  <a:srgbClr val="122033"/>
                </a:solidFill>
              </a:rPr>
              <a:t>EHDs sorted by distance while preserving each (r, φ) pair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0A3170-C355-4465-AD35-90282AA7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3528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81D58"/>
                </a:solidFill>
              </a:defRPr>
            </a:pPr>
            <a:r>
              <a:rPr sz="1575" b="1" i="0">
                <a:solidFill>
                  <a:srgbClr val="081D58"/>
                </a:solidFill>
              </a:rPr>
              <a:t>Evaluation protocol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2313A9-AAA4-49D4-B690-A0333524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838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6ABA29-EF08-4570-9653-C2CD5059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52850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22033"/>
                </a:solidFill>
              </a:defRPr>
            </a:pPr>
            <a:r>
              <a:rPr sz="1275" b="0" i="0">
                <a:solidFill>
                  <a:srgbClr val="122033"/>
                </a:solidFill>
              </a:rPr>
              <a:t>Regression: MAE, RMSE, and R² on held-out data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E3F9F7-A125-444A-8500-92BD7BD5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352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C26DD7-9D43-4BC7-80B6-61CAB007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6720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22033"/>
                </a:solidFill>
              </a:defRPr>
            </a:pPr>
            <a:r>
              <a:rPr sz="1275" b="0" i="0">
                <a:solidFill>
                  <a:srgbClr val="122033"/>
                </a:solidFill>
              </a:rPr>
              <a:t>Engineering: P1 objective gap after one exact P2 solve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696C53-55C3-4471-8426-8C375D33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10096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C8D7E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F8FE18-404B-4EE4-B216-E1A0629F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91150"/>
            <a:ext cx="957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081D58"/>
                </a:solidFill>
              </a:defRPr>
            </a:pPr>
            <a:r>
              <a:rPr sz="1425" b="1" i="0">
                <a:solidFill>
                  <a:srgbClr val="081D58"/>
                </a:solidFill>
              </a:rPr>
              <a:t>Hyperparameters were selected by cross-validation on the training partition only; the test set remained untouched until final evaluation.</a:t>
            </a:r>
          </a:p>
        </p:txBody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0cf519f65f494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9956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7C8695-6D8C-4456-BFBC-19D5DE9E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D58"/>
          </a:solidFill>
          <a:ln xmlns:a="http://schemas.openxmlformats.org/drawingml/2006/main" w="0">
            <a:solidFill>
              <a:srgbClr val="081D5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E540F5-B77C-4C30-A476-7BE61781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A9A"/>
          </a:solidFill>
          <a:ln xmlns:a="http://schemas.openxmlformats.org/drawingml/2006/main" w="0">
            <a:solidFill>
              <a:srgbClr val="0B9A9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7FB601-43B2-40CE-AAC5-D64AB9F3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0B9A9A"/>
                </a:solidFill>
              </a:defRPr>
            </a:pPr>
            <a:r>
              <a:rPr sz="825" b="1" i="0">
                <a:solidFill>
                  <a:srgbClr val="0B9A9A"/>
                </a:solidFill>
              </a:rPr>
              <a:t>MODEL COMPARISON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6ac9574d9042c4"/>
          <a:stretch xmlns:a="http://schemas.openxmlformats.org/drawingml/2006/main"/>
        </p:blipFill>
        <p:spPr>
          <a:xfrm xmlns:a="http://schemas.openxmlformats.org/drawingml/2006/main">
            <a:off x="11249025" y="13335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9A7D5A-2DB3-473C-B934-92AEF208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1090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F4B30F-77B2-4C1E-B655-393099B9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29400"/>
            <a:ext cx="3524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5F6F82"/>
                </a:solidFill>
              </a:defRPr>
            </a:pPr>
            <a:r>
              <a:rPr sz="675" b="0" i="0">
                <a:solidFill>
                  <a:srgbClr val="5F6F82"/>
                </a:solidFill>
              </a:rPr>
              <a:t>K. N. Toosi University of Technology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1F8B32-8214-4417-847E-49D6A440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610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750" b="1" i="0">
                <a:solidFill>
                  <a:srgbClr val="081D58"/>
                </a:solidFill>
              </a:defRPr>
            </a:pPr>
            <a:r>
              <a:rPr sz="750" b="1" i="0">
                <a:solidFill>
                  <a:srgbClr val="081D58"/>
                </a:solidFill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7615B7-AC2E-46FD-90DF-D29F2048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081D58"/>
                </a:solidFill>
              </a:defRPr>
            </a:pPr>
            <a:r>
              <a:rPr sz="2700" b="1" i="0">
                <a:solidFill>
                  <a:srgbClr val="081D58"/>
                </a:solidFill>
              </a:rPr>
              <a:t>Altitude error alone does not select the best surrogate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FC1D7C-A7F6-4E4C-98E8-4C5215DD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9A9A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56a13c2d5941be"/>
          <a:stretch xmlns:a="http://schemas.openxmlformats.org/drawingml/2006/main"/>
        </p:blipFill>
        <p:spPr>
          <a:xfrm xmlns:a="http://schemas.openxmlformats.org/drawingml/2006/main">
            <a:off x="742950" y="1772674"/>
            <a:ext cx="8286750" cy="4141327"/>
          </a:xfrm>
          <a:prstGeom xmlns:a="http://schemas.openxmlformats.org/drawingml/2006/main" prst="roundRect">
            <a:avLst>
              <a:gd name="adj" fmla="val 2759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89354-B62B-4CB3-AA08-A797974A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952625"/>
            <a:ext cx="2190750" cy="34671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7F7F6"/>
          </a:solidFill>
          <a:ln xmlns:a="http://schemas.openxmlformats.org/drawingml/2006/main" w="9525">
            <a:solidFill>
              <a:srgbClr val="B8E3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B49090-926C-4A1C-9619-AA0A9345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38375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B9A9A"/>
                </a:solidFill>
              </a:defRPr>
            </a:pPr>
            <a:r>
              <a:rPr sz="1125" b="1" i="0">
                <a:solidFill>
                  <a:srgbClr val="0B9A9A"/>
                </a:solidFill>
              </a:rPr>
              <a:t>Selected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474646-50B7-467F-BD26-140F3D03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66700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325" b="1" i="0">
                <a:solidFill>
                  <a:srgbClr val="081D58"/>
                </a:solidFill>
              </a:defRPr>
            </a:pPr>
            <a:r>
              <a:rPr sz="2325" b="1" i="0">
                <a:solidFill>
                  <a:srgbClr val="081D58"/>
                </a:solidFill>
              </a:rPr>
              <a:t>RBF-SVR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8899F6-CC0B-4DB8-AA2E-2D257267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718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164E9A"/>
                </a:solidFill>
              </a:defRPr>
            </a:pPr>
            <a:r>
              <a:rPr sz="2025" b="1" i="0">
                <a:solidFill>
                  <a:srgbClr val="164E9A"/>
                </a:solidFill>
              </a:rPr>
              <a:t>7.99 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98D3F6-76DB-4729-B55F-AEC4CCD5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00475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5F6F82"/>
                </a:solidFill>
              </a:defRPr>
            </a:pPr>
            <a:r>
              <a:rPr sz="975" b="0" i="0">
                <a:solidFill>
                  <a:srgbClr val="5F6F82"/>
                </a:solidFill>
              </a:rPr>
              <a:t>seed-42 test MAE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A95940-01A7-48A0-953E-25C7D7DD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10075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F28C28"/>
                </a:solidFill>
              </a:defRPr>
            </a:pPr>
            <a:r>
              <a:rPr sz="2025" b="1" i="0">
                <a:solidFill>
                  <a:srgbClr val="F28C28"/>
                </a:solidFill>
              </a:rPr>
              <a:t>0.793%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5E5862-290B-4D0C-A49E-97D86F5D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848225"/>
            <a:ext cx="1924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5F6F82"/>
                </a:solidFill>
              </a:defRPr>
            </a:pPr>
            <a:r>
              <a:rPr sz="975" b="0" i="0">
                <a:solidFill>
                  <a:srgbClr val="5F6F82"/>
                </a:solidFill>
              </a:rPr>
              <a:t>mean P1 gap on 200 cases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340680-F08E-4721-9516-EEAB8C3D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3885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081D58"/>
                </a:solidFill>
              </a:defRPr>
            </a:pPr>
            <a:r>
              <a:rPr sz="1350" b="1" i="0">
                <a:solidFill>
                  <a:srgbClr val="081D58"/>
                </a:solidFill>
              </a:rPr>
              <a:t>Key point: a few metres of altitude error can have little objective cost when P1 is locally flat.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6cbe7cd0b7458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4063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7A753F-E429-468C-B501-256196DA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D58"/>
          </a:solidFill>
          <a:ln xmlns:a="http://schemas.openxmlformats.org/drawingml/2006/main" w="0">
            <a:solidFill>
              <a:srgbClr val="081D5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0C44DC-9837-4128-8461-35E044F0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A9A"/>
          </a:solidFill>
          <a:ln xmlns:a="http://schemas.openxmlformats.org/drawingml/2006/main" w="0">
            <a:solidFill>
              <a:srgbClr val="0B9A9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3CECD2-45EB-4AA6-BB9D-7CE94EFB8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0B9A9A"/>
                </a:solidFill>
              </a:defRPr>
            </a:pPr>
            <a:r>
              <a:rPr sz="825" b="1" i="0">
                <a:solidFill>
                  <a:srgbClr val="0B9A9A"/>
                </a:solidFill>
              </a:rPr>
              <a:t>ROBUSTNESS AND INTERPRETABILITY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7dc4667a1146c7"/>
          <a:stretch xmlns:a="http://schemas.openxmlformats.org/drawingml/2006/main"/>
        </p:blipFill>
        <p:spPr>
          <a:xfrm xmlns:a="http://schemas.openxmlformats.org/drawingml/2006/main">
            <a:off x="11249025" y="13335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C3BD71-40AA-4703-9100-080F07F5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1090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9DAC71-3FA9-4FE2-B41F-00262DCC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29400"/>
            <a:ext cx="3524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5F6F82"/>
                </a:solidFill>
              </a:defRPr>
            </a:pPr>
            <a:r>
              <a:rPr sz="675" b="0" i="0">
                <a:solidFill>
                  <a:srgbClr val="5F6F82"/>
                </a:solidFill>
              </a:rPr>
              <a:t>K. N. Toosi University of Technology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3E73F5-1894-450C-99C3-57B0A6CA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610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750" b="1" i="0">
                <a:solidFill>
                  <a:srgbClr val="081D58"/>
                </a:solidFill>
              </a:defRPr>
            </a:pPr>
            <a:r>
              <a:rPr sz="750" b="1" i="0">
                <a:solidFill>
                  <a:srgbClr val="081D58"/>
                </a:solidFill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7B1692-30BC-4C9A-B458-407F4D36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081D58"/>
                </a:solidFill>
              </a:defRPr>
            </a:pPr>
            <a:r>
              <a:rPr sz="2700" b="1" i="0">
                <a:solidFill>
                  <a:srgbClr val="081D58"/>
                </a:solidFill>
              </a:rPr>
              <a:t>SVR is stable across splits; distance dominates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A1CE72-DF2A-4536-964E-0CEF94A9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9A9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40E455-E77E-433E-BC01-6DD8B174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81D58"/>
                </a:solidFill>
              </a:defRPr>
            </a:pPr>
            <a:r>
              <a:rPr sz="1575" b="1" i="0">
                <a:solidFill>
                  <a:srgbClr val="081D58"/>
                </a:solidFill>
              </a:rPr>
              <a:t>Mean MAE across five held-out splits</a:t>
            </a:r>
          </a:p>
        </p:txBody>
      </p:sp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619125" y="2143125"/>
          <a:ext xmlns:a="http://schemas.openxmlformats.org/drawingml/2006/main" cx="44767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be6e27f57cc4135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4193DB-743D-47B6-BC40-621472D6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7621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81D58"/>
                </a:solidFill>
              </a:defRPr>
            </a:pPr>
            <a:r>
              <a:rPr sz="1575" b="1" i="0">
                <a:solidFill>
                  <a:srgbClr val="081D58"/>
                </a:solidFill>
              </a:rPr>
              <a:t>Permutation importance of the final SVR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d90d01347c4d28"/>
          <a:stretch xmlns:a="http://schemas.openxmlformats.org/drawingml/2006/main"/>
        </p:blipFill>
        <p:spPr>
          <a:xfrm xmlns:a="http://schemas.openxmlformats.org/drawingml/2006/main">
            <a:off x="5974159" y="2095500"/>
            <a:ext cx="5139531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1B95FF-686F-4E5F-93E0-6F85B57A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47687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F28C28"/>
                </a:solidFill>
              </a:defRPr>
            </a:pPr>
            <a:r>
              <a:rPr sz="1875" b="1" i="0">
                <a:solidFill>
                  <a:srgbClr val="F28C28"/>
                </a:solidFill>
              </a:rPr>
              <a:t>7.88 ± 0.67 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D23201-DC00-4692-95A6-0DBF7D78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8388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5F6F82"/>
                </a:solidFill>
              </a:defRPr>
            </a:pPr>
            <a:r>
              <a:rPr sz="900" b="0" i="0">
                <a:solidFill>
                  <a:srgbClr val="5F6F82"/>
                </a:solidFill>
              </a:rPr>
              <a:t>SVR mean ± standard deviation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5CDA55-3FF9-4C52-9086-4911E102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562600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122033"/>
                </a:solidFill>
              </a:defRPr>
            </a:pPr>
            <a:r>
              <a:rPr sz="1275" b="0" i="0">
                <a:solidFill>
                  <a:srgbClr val="122033"/>
                </a:solidFill>
              </a:rPr>
              <a:t>Horizontal distance dominates; angular features contribute much less in this sampled scenario space.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6e3f3b33014eb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2685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BFB5E7-EC9B-474A-B5F4-07915119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D58"/>
          </a:solidFill>
          <a:ln xmlns:a="http://schemas.openxmlformats.org/drawingml/2006/main" w="0">
            <a:solidFill>
              <a:srgbClr val="081D5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60CF0E-4544-4221-9E22-1705AB1E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A9A"/>
          </a:solidFill>
          <a:ln xmlns:a="http://schemas.openxmlformats.org/drawingml/2006/main" w="0">
            <a:solidFill>
              <a:srgbClr val="0B9A9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1F4D69-D386-44F9-A107-A4C9D567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0B9A9A"/>
                </a:solidFill>
              </a:defRPr>
            </a:pPr>
            <a:r>
              <a:rPr sz="825" b="1" i="0">
                <a:solidFill>
                  <a:srgbClr val="0B9A9A"/>
                </a:solidFill>
              </a:rPr>
              <a:t>PAPER REPRODUCTION AND EXTENSION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33622ada024ca8"/>
          <a:stretch xmlns:a="http://schemas.openxmlformats.org/drawingml/2006/main"/>
        </p:blipFill>
        <p:spPr>
          <a:xfrm xmlns:a="http://schemas.openxmlformats.org/drawingml/2006/main">
            <a:off x="11249025" y="13335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8A5C22-875B-43FE-A447-33655276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1090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30F22F-8FF4-4D3D-ABA9-14839F99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29400"/>
            <a:ext cx="3524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5F6F82"/>
                </a:solidFill>
              </a:defRPr>
            </a:pPr>
            <a:r>
              <a:rPr sz="675" b="0" i="0">
                <a:solidFill>
                  <a:srgbClr val="5F6F82"/>
                </a:solidFill>
              </a:rPr>
              <a:t>K. N. Toosi University of Technology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F4418F-9F38-46C9-BACB-31C555C5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610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750" b="1" i="0">
                <a:solidFill>
                  <a:srgbClr val="081D58"/>
                </a:solidFill>
              </a:defRPr>
            </a:pPr>
            <a:r>
              <a:rPr sz="750" b="1" i="0">
                <a:solidFill>
                  <a:srgbClr val="081D58"/>
                </a:solidFill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F49EBC-4747-4477-B6F6-6A2E2794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081D58"/>
                </a:solidFill>
              </a:defRPr>
            </a:pPr>
            <a:r>
              <a:rPr sz="2700" b="1" i="0">
                <a:solidFill>
                  <a:srgbClr val="081D58"/>
                </a:solidFill>
              </a:rPr>
              <a:t>We reproduce Kang before adding the ML alternative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263502-12E6-4782-A3DF-B368F0B1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906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F6F82"/>
                </a:solidFill>
              </a:defRPr>
            </a:pPr>
            <a:r>
              <a:rPr sz="1275" b="0" i="0">
                <a:solidFill>
                  <a:srgbClr val="5F6F82"/>
                </a:solidFill>
              </a:rPr>
              <a:t>Scenario 1 · target angles [−40°, 0°, 40°] · EHD angles [−20°, 20°] · 0.1° grid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3C042D-7014-443D-A8B0-75C960D0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9A9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59A14B-0822-4F29-9C97-BC7AF3A4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8592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081D58"/>
                </a:solidFill>
              </a:defRPr>
            </a:pPr>
            <a:r>
              <a:rPr sz="1425" b="1" i="0">
                <a:solidFill>
                  <a:srgbClr val="081D58"/>
                </a:solidFill>
              </a:rPr>
              <a:t>Kang et al. — Figure 3(a)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2c4f3ac0ef483b"/>
          <a:stretch xmlns:a="http://schemas.openxmlformats.org/drawingml/2006/main"/>
        </p:blipFill>
        <p:spPr>
          <a:xfrm xmlns:a="http://schemas.openxmlformats.org/drawingml/2006/main">
            <a:off x="828675" y="2095500"/>
            <a:ext cx="4514850" cy="3009900"/>
          </a:xfrm>
          <a:prstGeom xmlns:a="http://schemas.openxmlformats.org/drawingml/2006/main" prst="roundRect">
            <a:avLst>
              <a:gd name="adj" fmla="val 3797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D2F221-632A-4DAE-B83D-E8BA4C3F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8592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081D58"/>
                </a:solidFill>
              </a:defRPr>
            </a:pPr>
            <a:r>
              <a:rPr sz="1425" b="1" i="0">
                <a:solidFill>
                  <a:srgbClr val="081D58"/>
                </a:solidFill>
              </a:rPr>
              <a:t>Our verified extension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399a61699344dd"/>
          <a:stretch xmlns:a="http://schemas.openxmlformats.org/drawingml/2006/main"/>
        </p:blipFill>
        <p:spPr>
          <a:xfrm xmlns:a="http://schemas.openxmlformats.org/drawingml/2006/main">
            <a:off x="6324600" y="2009775"/>
            <a:ext cx="5200650" cy="3219450"/>
          </a:xfrm>
          <a:prstGeom xmlns:a="http://schemas.openxmlformats.org/drawingml/2006/main" prst="roundRect">
            <a:avLst>
              <a:gd name="adj" fmla="val 355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0395E8-ADB2-4CED-91F4-50845234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097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F7FD34-317B-4ACA-BE3B-70F8835CF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86400"/>
            <a:ext cx="9620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7F7F6"/>
          </a:solidFill>
          <a:ln xmlns:a="http://schemas.openxmlformats.org/drawingml/2006/main" w="9525">
            <a:solidFill>
              <a:srgbClr val="B7E1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B7FEA2-E076-460A-86CF-25D61D5E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648325"/>
            <a:ext cx="900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81D58"/>
                </a:solidFill>
              </a:defRPr>
            </a:pPr>
            <a:r>
              <a:rPr sz="1500" b="1" i="0">
                <a:solidFill>
                  <a:srgbClr val="081D58"/>
                </a:solidFill>
              </a:rPr>
              <a:t>Across ρ ∈ {0.1, 0.3, 0.5, 0.7, 0.9}, SVR + one exact P2 solve stays within 0.31% of the audit reference.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5023B5-D399-4271-9665-B03D3B53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388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50" b="0" i="0">
                <a:solidFill>
                  <a:srgbClr val="5F6F82"/>
                </a:solidFill>
              </a:defRPr>
            </a:pPr>
            <a:r>
              <a:rPr sz="750" b="0" i="0">
                <a:solidFill>
                  <a:srgbClr val="5F6F82"/>
                </a:solidFill>
              </a:rPr>
              <a:t>Left: Kang et al. (2024), Fig. 3(a)  ·  Right: benchmark_gap1.py → gap1_results(1).json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b3084f3b86403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3a316b2b784832"/>
          <a:stretch xmlns:a="http://schemas.openxmlformats.org/drawingml/2006/main"/>
        </p:blipFill>
        <p:spPr>
          <a:xfrm xmlns:a="http://schemas.openxmlformats.org/drawingml/2006/main">
            <a:off x="828675" y="2095500"/>
            <a:ext cx="4514850" cy="3009900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70c90bcd0146ec"/>
          <a:stretch xmlns:a="http://schemas.openxmlformats.org/drawingml/2006/main"/>
        </p:blipFill>
        <p:spPr>
          <a:xfrm xmlns:a="http://schemas.openxmlformats.org/drawingml/2006/main">
            <a:off x="6324600" y="2009775"/>
            <a:ext cx="5200650" cy="3219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508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62BE30-9FE5-48C5-ADA4-193393F7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D58"/>
          </a:solidFill>
          <a:ln xmlns:a="http://schemas.openxmlformats.org/drawingml/2006/main" w="0">
            <a:solidFill>
              <a:srgbClr val="081D5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004464-2AA7-4B79-94B5-0948B01A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A9A"/>
          </a:solidFill>
          <a:ln xmlns:a="http://schemas.openxmlformats.org/drawingml/2006/main" w="0">
            <a:solidFill>
              <a:srgbClr val="0B9A9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E52330-F6CB-406D-BA84-7D6D5A33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0B9A9A"/>
                </a:solidFill>
              </a:defRPr>
            </a:pPr>
            <a:r>
              <a:rPr sz="825" b="1" i="0">
                <a:solidFill>
                  <a:srgbClr val="0B9A9A"/>
                </a:solidFill>
              </a:rPr>
              <a:t>ALTITUDE SELECTION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35d901905345b6"/>
          <a:stretch xmlns:a="http://schemas.openxmlformats.org/drawingml/2006/main"/>
        </p:blipFill>
        <p:spPr>
          <a:xfrm xmlns:a="http://schemas.openxmlformats.org/drawingml/2006/main">
            <a:off x="11249025" y="13335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CF7E8E-161B-40BF-81B3-A53FC78B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1090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5B5B3D-C666-4F66-90A3-13CF58A2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29400"/>
            <a:ext cx="3524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5F6F82"/>
                </a:solidFill>
              </a:defRPr>
            </a:pPr>
            <a:r>
              <a:rPr sz="675" b="0" i="0">
                <a:solidFill>
                  <a:srgbClr val="5F6F82"/>
                </a:solidFill>
              </a:rPr>
              <a:t>K. N. Toosi University of Technology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625631-55B2-4EBC-9A84-5293BEFF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610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750" b="1" i="0">
                <a:solidFill>
                  <a:srgbClr val="081D58"/>
                </a:solidFill>
              </a:defRPr>
            </a:pPr>
            <a:r>
              <a:rPr sz="750" b="1" i="0">
                <a:solidFill>
                  <a:srgbClr val="081D58"/>
                </a:solidFill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C0028F-69D2-40A0-93E1-24F74992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081D58"/>
                </a:solidFill>
              </a:defRPr>
            </a:pPr>
            <a:r>
              <a:rPr sz="2700" b="1" i="0">
                <a:solidFill>
                  <a:srgbClr val="081D58"/>
                </a:solidFill>
              </a:rPr>
              <a:t>SVR follows the reference altitude trend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4462D4-34B9-4AE1-BBEC-CF2EECE7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9A9A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d1418d1c4b4001"/>
          <a:stretch xmlns:a="http://schemas.openxmlformats.org/drawingml/2006/main"/>
        </p:blipFill>
        <p:spPr>
          <a:xfrm xmlns:a="http://schemas.openxmlformats.org/drawingml/2006/main">
            <a:off x="1173956" y="1695450"/>
            <a:ext cx="7500938" cy="428625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5BAB9B-57CB-40C4-A395-0C0C1B79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38350"/>
            <a:ext cx="2133600" cy="321945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C3D3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778FA4-928E-4AD0-81B3-32FDF409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24100"/>
            <a:ext cx="1762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F6F82"/>
                </a:solidFill>
              </a:defRPr>
            </a:pPr>
            <a:r>
              <a:rPr sz="1050" b="1" i="0">
                <a:solidFill>
                  <a:srgbClr val="5F6F82"/>
                </a:solidFill>
              </a:rPr>
              <a:t>Reference altitude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EFED1F-7FDB-4BCB-BEA3-C3ABE14A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695575"/>
            <a:ext cx="185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1D58"/>
                </a:solidFill>
              </a:defRPr>
            </a:pPr>
            <a:r>
              <a:rPr sz="1950" b="1" i="0">
                <a:solidFill>
                  <a:srgbClr val="081D58"/>
                </a:solidFill>
              </a:rPr>
              <a:t>111 → 136 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913A84-3CDB-4C9E-B339-7099970D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14675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5F6F82"/>
                </a:solidFill>
              </a:defRPr>
            </a:pPr>
            <a:r>
              <a:rPr sz="975" b="0" i="0">
                <a:solidFill>
                  <a:srgbClr val="5F6F82"/>
                </a:solidFill>
              </a:rPr>
              <a:t>as ρ increases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101A61-AFA3-44D0-8268-A0BF900F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695700"/>
            <a:ext cx="1762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F6F82"/>
                </a:solidFill>
              </a:defRPr>
            </a:pPr>
            <a:r>
              <a:rPr sz="1050" b="1" i="0">
                <a:solidFill>
                  <a:srgbClr val="5F6F82"/>
                </a:solidFill>
              </a:rPr>
              <a:t>SVR altitude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552914-17D4-4561-A72F-E8959AB7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4067175"/>
            <a:ext cx="185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B9A9A"/>
                </a:solidFill>
              </a:defRPr>
            </a:pPr>
            <a:r>
              <a:rPr sz="1950" b="1" i="0">
                <a:solidFill>
                  <a:srgbClr val="0B9A9A"/>
                </a:solidFill>
              </a:rPr>
              <a:t>113 → 128 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1D2587-C2BC-4249-8377-15C4218A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51485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5F6F82"/>
                </a:solidFill>
              </a:defRPr>
            </a:pPr>
            <a:r>
              <a:rPr sz="975" b="0" i="0">
                <a:solidFill>
                  <a:srgbClr val="5F6F82"/>
                </a:solidFill>
              </a:rPr>
              <a:t>same direction, flatter 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74133C-E756-47E5-81CB-E645C67F0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055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081D58"/>
                </a:solidFill>
              </a:defRPr>
            </a:pPr>
            <a:r>
              <a:rPr sz="1350" b="1" i="0">
                <a:solidFill>
                  <a:srgbClr val="081D58"/>
                </a:solidFill>
              </a:rPr>
              <a:t>The engineering result remains strong because the optimized objective is relatively flat around the best altitude.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c07e0ef1374f9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0726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E3D05B-8397-4306-8817-33667717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D58"/>
          </a:solidFill>
          <a:ln xmlns:a="http://schemas.openxmlformats.org/drawingml/2006/main" w="0">
            <a:solidFill>
              <a:srgbClr val="081D5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494F14-4A95-4C07-8E2F-8AF3C3E5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A9A"/>
          </a:solidFill>
          <a:ln xmlns:a="http://schemas.openxmlformats.org/drawingml/2006/main" w="0">
            <a:solidFill>
              <a:srgbClr val="0B9A9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C09796-0DBF-4665-BC45-BD9D2A89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0B9A9A"/>
                </a:solidFill>
              </a:defRPr>
            </a:pPr>
            <a:r>
              <a:rPr sz="825" b="1" i="0">
                <a:solidFill>
                  <a:srgbClr val="0B9A9A"/>
                </a:solidFill>
              </a:rPr>
              <a:t>VERIFICATION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a0e8311f5e4cd3"/>
          <a:stretch xmlns:a="http://schemas.openxmlformats.org/drawingml/2006/main"/>
        </p:blipFill>
        <p:spPr>
          <a:xfrm xmlns:a="http://schemas.openxmlformats.org/drawingml/2006/main">
            <a:off x="11249025" y="13335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2346A6-F7BB-4EB8-BDE5-2D84DF7A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1090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B9869E-AA24-459D-BD73-943D7435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29400"/>
            <a:ext cx="3524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5F6F82"/>
                </a:solidFill>
              </a:defRPr>
            </a:pPr>
            <a:r>
              <a:rPr sz="675" b="0" i="0">
                <a:solidFill>
                  <a:srgbClr val="5F6F82"/>
                </a:solidFill>
              </a:rPr>
              <a:t>K. N. Toosi University of Technology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ADB071-7C1D-40D7-AD25-55001FBC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610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750" b="1" i="0">
                <a:solidFill>
                  <a:srgbClr val="081D58"/>
                </a:solidFill>
              </a:defRPr>
            </a:pPr>
            <a:r>
              <a:rPr sz="750" b="1" i="0">
                <a:solidFill>
                  <a:srgbClr val="081D58"/>
                </a:solidFill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5BDE87-895F-4814-9B15-B3D242DA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081D58"/>
                </a:solidFill>
              </a:defRPr>
            </a:pPr>
            <a:r>
              <a:rPr sz="2700" b="1" i="0">
                <a:solidFill>
                  <a:srgbClr val="081D58"/>
                </a:solidFill>
              </a:rPr>
              <a:t>Audits confirm numerical quality and physical feasibility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3553A0-1DEE-43E6-9641-E50321F5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9A9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BC57EE-8AE0-495C-B873-21A4C380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71675"/>
            <a:ext cx="3143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E296ED-DE5C-4196-9F19-3F6E182D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71675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A9A"/>
          </a:solidFill>
          <a:ln xmlns:a="http://schemas.openxmlformats.org/drawingml/2006/main" w="0">
            <a:solidFill>
              <a:srgbClr val="0B9A9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869BA5-4ADA-425A-8DEE-CCBD599C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05025"/>
            <a:ext cx="2781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081D58"/>
                </a:solidFill>
              </a:defRPr>
            </a:pPr>
            <a:r>
              <a:rPr sz="2175" b="1" i="0">
                <a:solidFill>
                  <a:srgbClr val="081D58"/>
                </a:solidFill>
              </a:rPr>
              <a:t>0.025%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B75E96-2F1D-4F8D-A5F9-746C6CB7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F6F82"/>
                </a:solidFill>
              </a:defRPr>
            </a:pPr>
            <a:r>
              <a:rPr sz="1050" b="0" i="0">
                <a:solidFill>
                  <a:srgbClr val="5F6F82"/>
                </a:solidFill>
              </a:rPr>
              <a:t>median fast-vs-exact objective error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A6D326-D0C7-4F37-8EFC-7D191D6E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971675"/>
            <a:ext cx="3143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50081E-06E9-4521-A44B-3FE5D11D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971675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48B453-BB7B-41D9-A3BD-39AE9519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105025"/>
            <a:ext cx="2781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081D58"/>
                </a:solidFill>
              </a:defRPr>
            </a:pPr>
            <a:r>
              <a:rPr sz="2175" b="1" i="0">
                <a:solidFill>
                  <a:srgbClr val="081D58"/>
                </a:solidFill>
              </a:rPr>
              <a:t>0.063%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3C2D98-D246-416B-BB7A-71020E61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562225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F6F82"/>
                </a:solidFill>
              </a:defRPr>
            </a:pPr>
            <a:r>
              <a:rPr sz="1050" b="0" i="0">
                <a:solidFill>
                  <a:srgbClr val="5F6F82"/>
                </a:solidFill>
              </a:rPr>
              <a:t>mean label objective gap on 12 exact audits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EDFB1A-8F84-4B98-8D3E-EE5BE46E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71675"/>
            <a:ext cx="3143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EC464E-4520-46FF-8EEC-B8E94B50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71675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D58"/>
          </a:solidFill>
          <a:ln xmlns:a="http://schemas.openxmlformats.org/drawingml/2006/main" w="0">
            <a:solidFill>
              <a:srgbClr val="081D5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74090E-E018-4884-B01D-AEEEA92D0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05025"/>
            <a:ext cx="2781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081D58"/>
                </a:solidFill>
              </a:defRPr>
            </a:pPr>
            <a:r>
              <a:rPr sz="2175" b="1" i="0">
                <a:solidFill>
                  <a:srgbClr val="081D58"/>
                </a:solidFill>
              </a:rPr>
              <a:t>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BF498E-888B-43C9-B57B-582A8357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62225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F6F82"/>
                </a:solidFill>
              </a:defRPr>
            </a:pPr>
            <a:r>
              <a:rPr sz="1050" b="0" i="0">
                <a:solidFill>
                  <a:srgbClr val="5F6F82"/>
                </a:solidFill>
              </a:rPr>
              <a:t>maximum fixed-diagonal violation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8A968D-D37C-4ABF-8627-C63B11FC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480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81D58"/>
                </a:solidFill>
              </a:defRPr>
            </a:pPr>
            <a:r>
              <a:rPr sz="1650" b="1" i="0">
                <a:solidFill>
                  <a:srgbClr val="081D58"/>
                </a:solidFill>
              </a:rPr>
              <a:t>Fast waveform solver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DFFA0A-E05B-4862-99D5-578A521C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33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9A9A"/>
          </a:solidFill>
          <a:ln xmlns:a="http://schemas.openxmlformats.org/drawingml/2006/main" w="0">
            <a:solidFill>
              <a:srgbClr val="0B9A9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7B9187-11D6-4BD7-86C7-3576C878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48125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22033"/>
                </a:solidFill>
              </a:defRPr>
            </a:pPr>
            <a:r>
              <a:rPr sz="1275" b="0" i="0">
                <a:solidFill>
                  <a:srgbClr val="122033"/>
                </a:solidFill>
              </a:rPr>
              <a:t>FISTA/Dykstra used for bulk candidate evaluation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D391BE-4AA9-41A9-A2AD-6AEB37DA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9A9A"/>
          </a:solidFill>
          <a:ln xmlns:a="http://schemas.openxmlformats.org/drawingml/2006/main" w="0">
            <a:solidFill>
              <a:srgbClr val="0B9A9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82A7A9-057D-49CB-B0CF-4A98FCE7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00575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22033"/>
                </a:solidFill>
              </a:defRPr>
            </a:pPr>
            <a:r>
              <a:rPr sz="1275" b="0" i="0">
                <a:solidFill>
                  <a:srgbClr val="122033"/>
                </a:solidFill>
              </a:rPr>
              <a:t>Exact CVXPY P2 retained for audits and final inference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948986-F774-455E-B24F-06BBC486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6480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81D58"/>
                </a:solidFill>
              </a:defRPr>
            </a:pPr>
            <a:r>
              <a:rPr sz="1650" b="1" i="0">
                <a:solidFill>
                  <a:srgbClr val="081D58"/>
                </a:solidFill>
              </a:rPr>
              <a:t>Feasibility checks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BA6B07-11BE-4980-BD13-6B2A25C9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133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296C76-0694-4B34-9ACF-258E8085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48125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22033"/>
                </a:solidFill>
              </a:defRPr>
            </a:pPr>
            <a:r>
              <a:rPr sz="1275" b="0" i="0">
                <a:solidFill>
                  <a:srgbClr val="122033"/>
                </a:solidFill>
              </a:rPr>
              <a:t>minimum eigenvalue remained non-negative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BC21F9-5E9C-41ED-A503-6E6CDF50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686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C0AAF8-2FB3-4A55-8803-473E52DB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600575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22033"/>
                </a:solidFill>
              </a:defRPr>
            </a:pPr>
            <a:r>
              <a:rPr sz="1275" b="0" i="0">
                <a:solidFill>
                  <a:srgbClr val="122033"/>
                </a:solidFill>
              </a:rPr>
              <a:t>per-antenna power diagonal matched exactly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DD0857-C2CC-4A7A-B51C-CAFE3520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581650"/>
            <a:ext cx="94297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CAD9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4B32C5-D462-4109-B00A-8ADA6FB0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7150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081D58"/>
                </a:solidFill>
              </a:defRPr>
            </a:pPr>
            <a:r>
              <a:rPr sz="1575" b="1" i="0">
                <a:solidFill>
                  <a:srgbClr val="081D58"/>
                </a:solidFill>
              </a:rPr>
              <a:t>The ML model proposes h; the optimization layer guarantees a valid waveform X.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6a42cc95d5486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1940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62B6CD-610B-4EE8-9528-46132D01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D58"/>
          </a:solidFill>
          <a:ln xmlns:a="http://schemas.openxmlformats.org/drawingml/2006/main" w="0">
            <a:solidFill>
              <a:srgbClr val="081D5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76EEF8-AF3C-487F-A111-0E06B285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A9A"/>
          </a:solidFill>
          <a:ln xmlns:a="http://schemas.openxmlformats.org/drawingml/2006/main" w="0">
            <a:solidFill>
              <a:srgbClr val="0B9A9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C29B8F-9D21-4B80-A242-19E09322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0B9A9A"/>
                </a:solidFill>
              </a:defRPr>
            </a:pPr>
            <a:r>
              <a:rPr sz="825" b="1" i="0">
                <a:solidFill>
                  <a:srgbClr val="0B9A9A"/>
                </a:solidFill>
              </a:rPr>
              <a:t>CONCLUSION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bb32605df449e3"/>
          <a:stretch xmlns:a="http://schemas.openxmlformats.org/drawingml/2006/main"/>
        </p:blipFill>
        <p:spPr>
          <a:xfrm xmlns:a="http://schemas.openxmlformats.org/drawingml/2006/main">
            <a:off x="11249025" y="13335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BD013F-EAD3-4624-99D9-CB27D775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1090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8EACB4-157C-4A8F-9D75-A7344F3C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29400"/>
            <a:ext cx="3524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5F6F82"/>
                </a:solidFill>
              </a:defRPr>
            </a:pPr>
            <a:r>
              <a:rPr sz="675" b="0" i="0">
                <a:solidFill>
                  <a:srgbClr val="5F6F82"/>
                </a:solidFill>
              </a:rPr>
              <a:t>K. N. Toosi University of Technology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60B0AC-66DC-4C36-98FC-A525584F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610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750" b="1" i="0">
                <a:solidFill>
                  <a:srgbClr val="081D58"/>
                </a:solidFill>
              </a:defRPr>
            </a:pPr>
            <a:r>
              <a:rPr sz="750" b="1" i="0">
                <a:solidFill>
                  <a:srgbClr val="081D58"/>
                </a:solidFill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64BA95-A694-41D5-AC20-159BEE3C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081D58"/>
                </a:solidFill>
              </a:defRPr>
            </a:pPr>
            <a:r>
              <a:rPr sz="2700" b="1" i="0">
                <a:solidFill>
                  <a:srgbClr val="081D58"/>
                </a:solidFill>
              </a:rPr>
              <a:t>Hybrid ML reduces search while preserving constraints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694E8C-1454-4487-B4DE-2C443F19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9A9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EF8FB7-3863-4E8C-B5D4-D6CA8A62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9775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475" b="1" i="0">
                <a:solidFill>
                  <a:srgbClr val="0B9A9A"/>
                </a:solidFill>
              </a:defRPr>
            </a:pPr>
            <a:r>
              <a:rPr sz="2475" b="1" i="0">
                <a:solidFill>
                  <a:srgbClr val="0B9A9A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82B4C4-F16B-4A4B-B43F-A250890B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9812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81D58"/>
                </a:solidFill>
              </a:defRPr>
            </a:pPr>
            <a:r>
              <a:rPr sz="1875" b="1" i="0">
                <a:solidFill>
                  <a:srgbClr val="081D58"/>
                </a:solidFill>
              </a:rPr>
              <a:t>Learn the altitude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48B56E-CCA3-411D-98E9-D7081183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3812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22033"/>
                </a:solidFill>
              </a:defRPr>
            </a:pPr>
            <a:r>
              <a:rPr sz="1425" b="0" i="0">
                <a:solidFill>
                  <a:srgbClr val="122033"/>
                </a:solidFill>
              </a:rPr>
              <a:t>RBF-SVR replaces the repeated outer search over 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1228A4-3ED9-42CC-8B4F-F613B977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A1347C-349F-400A-B14D-9122EDED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040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475" b="1" i="0">
                <a:solidFill>
                  <a:srgbClr val="F28C28"/>
                </a:solidFill>
              </a:defRPr>
            </a:pPr>
            <a:r>
              <a:rPr sz="2475" b="1" i="0">
                <a:solidFill>
                  <a:srgbClr val="F28C28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7CC608-DCC5-4D7F-8C87-96D93FD6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718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81D58"/>
                </a:solidFill>
              </a:defRPr>
            </a:pPr>
            <a:r>
              <a:rPr sz="1875" b="1" i="0">
                <a:solidFill>
                  <a:srgbClr val="081D58"/>
                </a:solidFill>
              </a:rPr>
              <a:t>Keep the waveform optimization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F06404-DBA3-41E5-B7E6-97B997D0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71875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22033"/>
                </a:solidFill>
              </a:defRPr>
            </a:pPr>
            <a:r>
              <a:rPr sz="1425" b="0" i="0">
                <a:solidFill>
                  <a:srgbClr val="122033"/>
                </a:solidFill>
              </a:rPr>
              <a:t>One exact P2 solve retains PSD and fixed-power constraints.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C12D3F-08E8-4344-9931-B17B20B3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0527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19F8E5-05DC-42B0-A6C6-539927C7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91025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475" b="1" i="0">
                <a:solidFill>
                  <a:srgbClr val="28A36A"/>
                </a:solidFill>
              </a:defRPr>
            </a:pPr>
            <a:r>
              <a:rPr sz="2475" b="1" i="0">
                <a:solidFill>
                  <a:srgbClr val="28A36A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DFE44C-772E-4D55-8485-8709F0EB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624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81D58"/>
                </a:solidFill>
              </a:defRPr>
            </a:pPr>
            <a:r>
              <a:rPr sz="1875" b="1" i="0">
                <a:solidFill>
                  <a:srgbClr val="081D58"/>
                </a:solidFill>
              </a:rPr>
              <a:t>Evaluate the engineering objective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2BED86-6E16-4582-BE2A-35A5D0BA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62500"/>
            <a:ext cx="866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22033"/>
                </a:solidFill>
              </a:defRPr>
            </a:pPr>
            <a:r>
              <a:rPr sz="1425" b="0" i="0">
                <a:solidFill>
                  <a:srgbClr val="122033"/>
                </a:solidFill>
              </a:rPr>
              <a:t>The selected SVR achieves a 0.793% mean gap on 200 held-out cases and ≤0.31% in the Kang Scenario 1 sweep.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AAA5CC-70C0-4796-9A1E-EF76911CC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000250"/>
            <a:ext cx="3067050" cy="1685925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7F7F6"/>
          </a:solidFill>
          <a:ln xmlns:a="http://schemas.openxmlformats.org/drawingml/2006/main" w="9525">
            <a:solidFill>
              <a:srgbClr val="B4E0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500898-352A-4112-84F2-6DAD6BAD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05050"/>
            <a:ext cx="2524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150" b="1" i="0">
                <a:solidFill>
                  <a:srgbClr val="081D58"/>
                </a:solidFill>
              </a:defRPr>
            </a:pPr>
            <a:r>
              <a:rPr sz="3150" b="1" i="0">
                <a:solidFill>
                  <a:srgbClr val="081D58"/>
                </a:solidFill>
              </a:rPr>
              <a:t>73 → 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5E543D-1B70-4D2C-A9F4-4A4EA261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971800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5F6F82"/>
                </a:solidFill>
              </a:defRPr>
            </a:pPr>
            <a:r>
              <a:rPr sz="1200" b="0" i="0">
                <a:solidFill>
                  <a:srgbClr val="5F6F82"/>
                </a:solidFill>
              </a:rPr>
              <a:t>paper Algorithm 1 PSO budget</a:t>
            </a:r>
          </a:p>
          <a:p xmlns:a="http://schemas.openxmlformats.org/drawingml/2006/main">
            <a:pPr algn="ctr">
              <a:buNone/>
              <a:defRPr sz="1200" b="0" i="0">
                <a:solidFill>
                  <a:srgbClr val="5F6F82"/>
                </a:solidFill>
              </a:defRPr>
            </a:pPr>
            <a:r>
              <a:rPr sz="1200" b="0" i="0">
                <a:solidFill>
                  <a:srgbClr val="5F6F82"/>
                </a:solidFill>
              </a:rPr>
              <a:t>→ one exact P2 solve at inference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12D871-A7AD-4F6B-A49F-679AF2DF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819775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081D58"/>
                </a:solidFill>
              </a:defRPr>
            </a:pPr>
            <a:r>
              <a:rPr sz="1275" b="1" i="0">
                <a:solidFill>
                  <a:srgbClr val="081D58"/>
                </a:solidFill>
              </a:rPr>
              <a:t>Scope: 73 is the paper PSO budget; the hybrid keeps exact P2 feasibility but does not claim continuous global optimality.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4f0f9e0efb4f8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9692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2ACE15-A8F6-482C-A64B-837DA5FC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D58"/>
          </a:solidFill>
          <a:ln xmlns:a="http://schemas.openxmlformats.org/drawingml/2006/main" w="0">
            <a:solidFill>
              <a:srgbClr val="081D5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A72844-149A-41FE-941A-F3A55546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A9A"/>
          </a:solidFill>
          <a:ln xmlns:a="http://schemas.openxmlformats.org/drawingml/2006/main" w="0">
            <a:solidFill>
              <a:srgbClr val="0B9A9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E1C27A-54C4-441C-ABFD-306A0298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0B9A9A"/>
                </a:solidFill>
              </a:defRPr>
            </a:pPr>
            <a:r>
              <a:rPr sz="825" b="1" i="0">
                <a:solidFill>
                  <a:srgbClr val="0B9A9A"/>
                </a:solidFill>
              </a:rPr>
              <a:t>SELECTED REFERENCES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ccc25373ee4512"/>
          <a:stretch xmlns:a="http://schemas.openxmlformats.org/drawingml/2006/main"/>
        </p:blipFill>
        <p:spPr>
          <a:xfrm xmlns:a="http://schemas.openxmlformats.org/drawingml/2006/main">
            <a:off x="11249025" y="13335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CFDDEA-82ED-487C-AF96-1FA73B51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1090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6D21C3-EB31-46A8-9903-7231E322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29400"/>
            <a:ext cx="3524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5F6F82"/>
                </a:solidFill>
              </a:defRPr>
            </a:pPr>
            <a:r>
              <a:rPr sz="675" b="0" i="0">
                <a:solidFill>
                  <a:srgbClr val="5F6F82"/>
                </a:solidFill>
              </a:rPr>
              <a:t>K. N. Toosi University of Technology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908CCE-11CB-4DC0-825C-9C451C28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610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750" b="1" i="0">
                <a:solidFill>
                  <a:srgbClr val="081D58"/>
                </a:solidFill>
              </a:defRPr>
            </a:pPr>
            <a:r>
              <a:rPr sz="750" b="1" i="0">
                <a:solidFill>
                  <a:srgbClr val="081D58"/>
                </a:solidFill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AFF713-2B29-4FEB-9E48-8A409C4C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081D58"/>
                </a:solidFill>
              </a:defRPr>
            </a:pPr>
            <a:r>
              <a:rPr sz="2700" b="1" i="0">
                <a:solidFill>
                  <a:srgbClr val="081D58"/>
                </a:solidFill>
              </a:rPr>
              <a:t>Selected references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0AA8C6-E912-43DA-9AC8-2CF4B8FE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9A9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717B38-BCCB-41A0-AE3D-D2AC02F1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B9A9A"/>
                </a:solidFill>
              </a:defRPr>
            </a:pPr>
            <a:r>
              <a:rPr sz="1500" b="1" i="0">
                <a:solidFill>
                  <a:srgbClr val="0B9A9A"/>
                </a:solidFill>
              </a:rPr>
              <a:t>[1]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051DE4-76F1-41B1-9675-2C930FE2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809750"/>
            <a:ext cx="962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22033"/>
                </a:solidFill>
              </a:defRPr>
            </a:pPr>
            <a:r>
              <a:rPr sz="1350" b="0" i="0">
                <a:solidFill>
                  <a:srgbClr val="122033"/>
                </a:solidFill>
              </a:rPr>
              <a:t>J. Kang et al., “Joint Design of Transmit Waveform and Altitude for UAV-Enabled Integrated Sensing and Wireless Power Transfer Systems,” Electronics, vol. 13, no. 21, 4237, 2024.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80395E-4DB8-4AD0-BF00-075B9DC3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B9A9A"/>
                </a:solidFill>
              </a:defRPr>
            </a:pPr>
            <a:r>
              <a:rPr sz="1500" b="1" i="0">
                <a:solidFill>
                  <a:srgbClr val="0B9A9A"/>
                </a:solidFill>
              </a:rPr>
              <a:t>[2]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D784C2-4680-411B-B715-022799DE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05125"/>
            <a:ext cx="962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22033"/>
                </a:solidFill>
              </a:defRPr>
            </a:pPr>
            <a:r>
              <a:rPr sz="1350" b="0" i="0">
                <a:solidFill>
                  <a:srgbClr val="122033"/>
                </a:solidFill>
              </a:rPr>
              <a:t>H. Sun et al., “Learning to Optimize: Training Deep Neural Networks for Wireless Resource Management,” IEEE Transactions on Signal Processing, vol. 66, no. 20, pp. 5438–5453, 2018.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224449-4995-4E20-9BFE-BB8EA387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B9A9A"/>
                </a:solidFill>
              </a:defRPr>
            </a:pPr>
            <a:r>
              <a:rPr sz="1500" b="1" i="0">
                <a:solidFill>
                  <a:srgbClr val="0B9A9A"/>
                </a:solidFill>
              </a:rPr>
              <a:t>[3]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232B9F-EAC8-4093-B024-B9A5B4E9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620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22033"/>
                </a:solidFill>
              </a:defRPr>
            </a:pPr>
            <a:r>
              <a:rPr sz="1350" b="0" i="0">
                <a:solidFill>
                  <a:srgbClr val="122033"/>
                </a:solidFill>
              </a:rPr>
              <a:t>S. Diamond and S. Boyd, "CVXPY: A Python-Embedded Modeling Language for Convex Optimization," Journal of Machine Learning Research, vol. 17, no. 83, pp. 1–5, 2016.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DDB29B-E1AF-4A81-B599-BD13C3BF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126B61-BEA4-4B85-BFFC-A48BA38C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81D58"/>
                </a:solidFill>
              </a:defRPr>
            </a:pPr>
            <a:r>
              <a:rPr sz="1575" b="1" i="0">
                <a:solidFill>
                  <a:srgbClr val="081D58"/>
                </a:solidFill>
              </a:rPr>
              <a:t>[4]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EF7657-9DB7-4569-89C8-369A2437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362575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F6F82"/>
                </a:solidFill>
              </a:defRPr>
            </a:pPr>
            <a:r>
              <a:rPr sz="1350" b="0" i="0">
                <a:solidFill>
                  <a:srgbClr val="5F6F82"/>
                </a:solidFill>
              </a:rPr>
              <a:t>F. Pedregosa et al., "Scikit-learn: Machine Learning in Python," Journal of Machine Learning Research, vol. 12, pp. 2825–2830, 2011.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5f795a6d2c45e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53433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BFB5E7-EC9B-474A-B5F4-07915119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D58"/>
          </a:solidFill>
          <a:ln xmlns:a="http://schemas.openxmlformats.org/drawingml/2006/main" w="0">
            <a:solidFill>
              <a:srgbClr val="081D5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60CF0E-4544-4221-9E22-1705AB1E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9A9A"/>
          </a:solidFill>
          <a:ln xmlns:a="http://schemas.openxmlformats.org/drawingml/2006/main" w="0">
            <a:solidFill>
              <a:srgbClr val="0B9A9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1F4D69-D386-44F9-A107-A4C9D567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0B9A9A"/>
                </a:solidFill>
              </a:defRPr>
            </a:pPr>
            <a:r>
              <a:rPr sz="825" b="1" i="0">
                <a:solidFill>
                  <a:srgbClr val="0B9A9A"/>
                </a:solidFill>
              </a:rPr>
              <a:t>APPENDIX · SVR DIAGNOSTICS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6bf1b7ec4e4dc4"/>
          <a:stretch xmlns:a="http://schemas.openxmlformats.org/drawingml/2006/main"/>
        </p:blipFill>
        <p:spPr>
          <a:xfrm xmlns:a="http://schemas.openxmlformats.org/drawingml/2006/main">
            <a:off x="11249025" y="13335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8A5C22-875B-43FE-A447-33655276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1090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30F22F-8FF4-4D3D-ABA9-14839F99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29400"/>
            <a:ext cx="3524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5F6F82"/>
                </a:solidFill>
              </a:defRPr>
            </a:pPr>
            <a:r>
              <a:rPr sz="675" b="0" i="0">
                <a:solidFill>
                  <a:srgbClr val="5F6F82"/>
                </a:solidFill>
              </a:rPr>
              <a:t>K. N. Toosi University of Technology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F4418F-9F38-46C9-BACB-31C555C5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610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750" b="1" i="0">
                <a:solidFill>
                  <a:srgbClr val="081D58"/>
                </a:solidFill>
              </a:defRPr>
            </a:pPr>
            <a:r>
              <a:rPr sz="750" b="1" i="0">
                <a:solidFill>
                  <a:srgbClr val="081D58"/>
                </a:solidFill>
              </a:rPr>
              <a:t>A1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F49EBC-4747-4477-B6F6-6A2E2794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081D58"/>
                </a:solidFill>
              </a:defRPr>
            </a:pPr>
            <a:r>
              <a:rPr sz="2700" b="1" i="0">
                <a:solidFill>
                  <a:srgbClr val="081D58"/>
                </a:solidFill>
              </a:rPr>
              <a:t>SVR diagnostics separate data sufficiency from outliers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263502-12E6-4782-A3DF-B368F0B1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906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F6F82"/>
                </a:solidFill>
              </a:defRPr>
            </a:pPr>
            <a:r>
              <a:rPr sz="1275" b="0" i="0">
                <a:solidFill>
                  <a:srgbClr val="5F6F82"/>
                </a:solidFill>
              </a:rPr>
              <a:t>Locked RBF-SVR · 800/200 split · seed 42 · training-only cross-validation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3C042D-7014-443D-A8B0-75C960D0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9A9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59A14B-0822-4F29-9C97-BC7AF3A4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8592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081D58"/>
                </a:solidFill>
              </a:defRPr>
            </a:pPr>
            <a:r>
              <a:rPr sz="1425" b="1" i="0">
                <a:solidFill>
                  <a:srgbClr val="081D58"/>
                </a:solidFill>
              </a:rPr>
              <a:t>Learning curve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e062530ab34672"/>
          <a:stretch xmlns:a="http://schemas.openxmlformats.org/drawingml/2006/main"/>
        </p:blipFill>
        <p:spPr>
          <a:xfrm xmlns:a="http://schemas.openxmlformats.org/drawingml/2006/main" flipH="0" flipV="0">
            <a:off x="828675" y="2095500"/>
            <a:ext cx="4514850" cy="3009900"/>
          </a:xfrm>
          <a:prstGeom xmlns:a="http://schemas.openxmlformats.org/drawingml/2006/main" prst="round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D2F221-632A-4DAE-B83D-E8BA4C3F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8592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081D58"/>
                </a:solidFill>
              </a:defRPr>
            </a:pPr>
            <a:r>
              <a:rPr sz="1425" b="1" i="0">
                <a:solidFill>
                  <a:srgbClr val="081D58"/>
                </a:solidFill>
              </a:rPr>
              <a:t>Held-out residuals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f9504367c0456d"/>
          <a:stretch xmlns:a="http://schemas.openxmlformats.org/drawingml/2006/main"/>
        </p:blipFill>
        <p:spPr>
          <a:xfrm xmlns:a="http://schemas.openxmlformats.org/drawingml/2006/main" flipH="0" flipV="0">
            <a:off x="6324600" y="2009775"/>
            <a:ext cx="5200650" cy="3219450"/>
          </a:xfrm>
          <a:prstGeom xmlns:a="http://schemas.openxmlformats.org/drawingml/2006/main" prst="round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0395E8-ADB2-4CED-91F4-50845234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097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F7FD34-317B-4ACA-BE3B-70F8835CF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86400"/>
            <a:ext cx="9620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7F7F6"/>
          </a:solidFill>
          <a:ln xmlns:a="http://schemas.openxmlformats.org/drawingml/2006/main" w="9525">
            <a:solidFill>
              <a:srgbClr val="B7E1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B7FEA2-E076-460A-86CF-25D61D5E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648325"/>
            <a:ext cx="900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81D58"/>
                </a:solidFill>
              </a:defRPr>
            </a:pPr>
            <a:r>
              <a:rPr sz="1500" b="1" i="0">
                <a:solidFill>
                  <a:srgbClr val="081D58"/>
                </a:solidFill>
              </a:rPr>
              <a:t>CV MAE falls 10.33 → 7.95 m; mean residual is −1.97 m. Engineering impact is evaluated separately with P1.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5023B5-D399-4271-9665-B03D3B53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388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50" b="0" i="0">
                <a:solidFill>
                  <a:srgbClr val="5F6F82"/>
                </a:solidFill>
              </a:defRPr>
            </a:pPr>
            <a:r>
              <a:rPr sz="750" b="0" i="0">
                <a:solidFill>
                  <a:srgbClr val="5F6F82"/>
                </a:solidFill>
              </a:rPr>
              <a:t>Source: render_svr_diagnostics.py → svr_diagnostics.json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bdb832e6414ac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508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2026-08-18T20:34:30.9730000Z</dcterms:created>
  <dcterms:modified xsi:type="dcterms:W3CDTF">2026-08-18T20:34:30.9730000Z</dcterms:modified>
</coreProperties>
</file>